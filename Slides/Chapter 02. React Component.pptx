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48" r:id="rId1"/>
  </p:sldMasterIdLst>
  <p:notesMasterIdLst>
    <p:notesMasterId r:id="rId22"/>
  </p:notesMasterIdLst>
  <p:sldIdLst>
    <p:sldId id="256" r:id="rId2"/>
    <p:sldId id="307" r:id="rId3"/>
    <p:sldId id="308" r:id="rId4"/>
    <p:sldId id="318" r:id="rId5"/>
    <p:sldId id="319" r:id="rId6"/>
    <p:sldId id="315" r:id="rId7"/>
    <p:sldId id="316" r:id="rId8"/>
    <p:sldId id="317" r:id="rId9"/>
    <p:sldId id="309" r:id="rId10"/>
    <p:sldId id="310" r:id="rId11"/>
    <p:sldId id="311" r:id="rId12"/>
    <p:sldId id="312" r:id="rId13"/>
    <p:sldId id="313" r:id="rId14"/>
    <p:sldId id="314" r:id="rId15"/>
    <p:sldId id="320" r:id="rId16"/>
    <p:sldId id="321" r:id="rId17"/>
    <p:sldId id="322" r:id="rId18"/>
    <p:sldId id="323" r:id="rId19"/>
    <p:sldId id="324" r:id="rId20"/>
    <p:sldId id="303"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9" roundtripDataSignature="AMtx7mjm0V2SbzZUsP05LVTHy3YtRCoK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74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5" autoAdjust="0"/>
    <p:restoredTop sz="45752" autoAdjust="0"/>
  </p:normalViewPr>
  <p:slideViewPr>
    <p:cSldViewPr snapToGrid="0">
      <p:cViewPr varScale="1">
        <p:scale>
          <a:sx n="37" d="100"/>
          <a:sy n="37" d="100"/>
        </p:scale>
        <p:origin x="1603"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93"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89"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90"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thành phần trả về một tập hợp các phần tử React sẽ xuất hiện trên màn hình
Các thành phần cho phép bạn chia giao diện người dùng thành các phần độc lập, có thể tái sử dụng
Các thành phần cũng nhận đầu vào
Các loại thành phần khác nhau có thể được định nghĩa trong React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44765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thành phần là nền tảng của các ứng dụng React.  
Một thành phần React là một hàm hoặc lớp JavaScript có thể tùy chọn chấp nhận dữ liệu và trả về một phần tử React mô tả một phần nào đó của giao diện người dùng.  
Giao diện người dùng React được tạo thành từ một hệ thống phân cấp các thành phần xây dựng thành một thành phần duy nhất (gọi là thành phần gốc) được hiển thị trên trình duyệt web</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4569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Tầm</a:t>
            </a:r>
            <a:r>
              <a:rPr lang="en-GB" dirty="0"/>
              <a:t> </a:t>
            </a:r>
            <a:r>
              <a:rPr lang="en-GB" dirty="0" err="1"/>
              <a:t>quan</a:t>
            </a:r>
            <a:r>
              <a:rPr lang="en-GB" dirty="0"/>
              <a:t> </a:t>
            </a:r>
            <a:r>
              <a:rPr lang="en-GB" dirty="0" err="1"/>
              <a:t>trọng</a:t>
            </a:r>
            <a:r>
              <a:rPr lang="en-GB" dirty="0"/>
              <a:t> </a:t>
            </a:r>
            <a:r>
              <a:rPr lang="en-GB" dirty="0" err="1"/>
              <a:t>của</a:t>
            </a:r>
            <a:r>
              <a:rPr lang="en-GB" dirty="0"/>
              <a:t> </a:t>
            </a:r>
            <a:r>
              <a:rPr lang="en-GB" dirty="0" err="1"/>
              <a:t>các</a:t>
            </a:r>
            <a:r>
              <a:rPr lang="en-GB" dirty="0"/>
              <a:t> </a:t>
            </a:r>
            <a:r>
              <a:rPr lang="en-GB" dirty="0" err="1"/>
              <a:t>thành</a:t>
            </a:r>
            <a:r>
              <a:rPr lang="en-GB" dirty="0"/>
              <a:t> </a:t>
            </a:r>
            <a:r>
              <a:rPr lang="en-GB" dirty="0" err="1"/>
              <a:t>phần</a:t>
            </a:r>
            <a:br>
              <a:rPr lang="en-GB" dirty="0"/>
            </a:br>
            <a:r>
              <a:rPr lang="en-GB" dirty="0" err="1"/>
              <a:t>Khả</a:t>
            </a:r>
            <a:r>
              <a:rPr lang="en-GB" dirty="0"/>
              <a:t> </a:t>
            </a:r>
            <a:r>
              <a:rPr lang="en-GB" dirty="0" err="1"/>
              <a:t>năng</a:t>
            </a:r>
            <a:r>
              <a:rPr lang="en-GB" dirty="0"/>
              <a:t> </a:t>
            </a:r>
            <a:r>
              <a:rPr lang="en-GB" dirty="0" err="1"/>
              <a:t>tái</a:t>
            </a:r>
            <a:r>
              <a:rPr lang="en-GB" dirty="0"/>
              <a:t> </a:t>
            </a:r>
            <a:r>
              <a:rPr lang="en-GB" dirty="0" err="1"/>
              <a:t>sử</a:t>
            </a:r>
            <a:r>
              <a:rPr lang="en-GB" dirty="0"/>
              <a:t> </a:t>
            </a:r>
            <a:r>
              <a:rPr lang="en-GB" dirty="0" err="1"/>
              <a:t>dụng</a:t>
            </a:r>
            <a:r>
              <a:rPr lang="en-GB" dirty="0"/>
              <a:t>
</a:t>
            </a:r>
            <a:r>
              <a:rPr lang="en-GB" dirty="0" err="1"/>
              <a:t>sự</a:t>
            </a:r>
            <a:r>
              <a:rPr lang="en-GB" dirty="0"/>
              <a:t> </a:t>
            </a:r>
            <a:r>
              <a:rPr lang="en-GB" dirty="0" err="1"/>
              <a:t>đóng</a:t>
            </a:r>
            <a:r>
              <a:rPr lang="en-GB" dirty="0"/>
              <a:t> </a:t>
            </a:r>
            <a:r>
              <a:rPr lang="en-GB" dirty="0" err="1"/>
              <a:t>gói</a:t>
            </a:r>
            <a:r>
              <a:rPr lang="en-GB" dirty="0"/>
              <a:t>
Thành </a:t>
            </a:r>
            <a:r>
              <a:rPr lang="en-GB" dirty="0" err="1"/>
              <a:t>phần</a:t>
            </a:r>
            <a:r>
              <a:rPr lang="en-GB" dirty="0"/>
              <a:t>
</a:t>
            </a:r>
            <a:r>
              <a:rPr lang="en-GB" dirty="0" err="1"/>
              <a:t>Luồng</a:t>
            </a:r>
            <a:r>
              <a:rPr lang="en-GB" dirty="0"/>
              <a:t> </a:t>
            </a:r>
            <a:r>
              <a:rPr lang="en-GB" dirty="0" err="1"/>
              <a:t>dữ</a:t>
            </a:r>
            <a:r>
              <a:rPr lang="en-GB" dirty="0"/>
              <a:t> </a:t>
            </a:r>
            <a:r>
              <a:rPr lang="en-GB" dirty="0" err="1"/>
              <a:t>liệu</a:t>
            </a:r>
            <a:r>
              <a:rPr lang="en-GB" dirty="0"/>
              <a:t> </a:t>
            </a:r>
            <a:r>
              <a:rPr lang="en-GB" dirty="0" err="1"/>
              <a:t>một</a:t>
            </a:r>
            <a:r>
              <a:rPr lang="en-GB" dirty="0"/>
              <a:t> </a:t>
            </a:r>
            <a:r>
              <a:rPr lang="en-GB" dirty="0" err="1"/>
              <a:t>chiều</a:t>
            </a:r>
            <a:r>
              <a:rPr lang="en-GB" dirty="0"/>
              <a:t>
Hiệu </a:t>
            </a:r>
            <a:r>
              <a:rPr lang="en-GB" dirty="0" err="1"/>
              <a:t>suất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0655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Mở rộng cú pháp cho JavaScript
Ký hiệu viết tắt để biểu diễn các hàm JavaScript gọi đánh giá đối với các đối tượng JavaScript
Tránh sự tách biệt nhân tạo giữa logic kết xuất với logic giao diện người dùng khác
JSX giúp việc viết và thêm HTML trong React trở nên dễ dàng hơn.</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32894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Fragments là cách để nhóm các khối đánh dấu lại với nhau mà không cần thêm cấu trúc không cần thiết cho trang của bạn. 
Khi một thành phần render một fragment, React biết cách render phần tử con của fragment ở bất cứ nơi nào thành phần đó được sử dụng</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68924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Thay vì đóng gói nội dung thành phần bằng &lt;div&gt;, phần tử &lt;&gt; được sử dụng. Đây là một loại phần tử đặc biệt chỉ ra rằng chỉ các phần tử con của nó cần được kết xuất.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7109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Tạo các thành phần lớp, còn gọi là thành phần có trạng thái, sử dụng các lớp JavaScript.  
Quản lý các phương pháp trạng thái và vòng đời. 
Sử dụng các thành phần lớp cho các tình huống yêu cầu trạng thái hoặc khi các sự kiện cụ thể như tạo hoặc cập nhật thành phần yêu cầu hành động.</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7850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Thành phần lớp trải qua các giai đoạn vòng đời sau: 
Lắp đặt
Cập nhật
đang tháo rời
Có nhiều phương pháp vòng đời có sẵn ở mỗi giai đoạn: 
constructor(props)
componentDidMount()
componentDidUpdate(prevProps, prevState, snapshot)
componentWillUnmount()</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3480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1524000" y="1988598"/>
            <a:ext cx="9144000" cy="1521364"/>
          </a:xfrm>
          <a:prstGeom prst="rect">
            <a:avLst/>
          </a:prstGeom>
          <a:solidFill>
            <a:srgbClr val="FB743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48"/>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 name="Picture 3"/>
          <p:cNvPicPr>
            <a:picLocks noChangeAspect="1"/>
          </p:cNvPicPr>
          <p:nvPr userDrawn="1"/>
        </p:nvPicPr>
        <p:blipFill>
          <a:blip r:embed="rId2"/>
          <a:stretch>
            <a:fillRect/>
          </a:stretch>
        </p:blipFill>
        <p:spPr>
          <a:xfrm>
            <a:off x="11389199" y="25370"/>
            <a:ext cx="802801" cy="1349067"/>
          </a:xfrm>
          <a:prstGeom prst="rect">
            <a:avLst/>
          </a:prstGeom>
        </p:spPr>
      </p:pic>
      <p:pic>
        <p:nvPicPr>
          <p:cNvPr id="2" name="Picture 1">
            <a:extLst>
              <a:ext uri="{FF2B5EF4-FFF2-40B4-BE49-F238E27FC236}">
                <a16:creationId xmlns:a16="http://schemas.microsoft.com/office/drawing/2014/main" id="{08CEAAFF-FE0C-4084-11F9-F8B3E26F6AB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 y="6481214"/>
            <a:ext cx="12192000" cy="3827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4558A2C-75A2-6180-1CC5-B21A1BFD447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29817" y="31035"/>
            <a:ext cx="1595654" cy="77640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21"/>
        <p:cNvGrpSpPr/>
        <p:nvPr/>
      </p:nvGrpSpPr>
      <p:grpSpPr>
        <a:xfrm>
          <a:off x="0" y="0"/>
          <a:ext cx="0" cy="0"/>
          <a:chOff x="0" y="0"/>
          <a:chExt cx="0" cy="0"/>
        </a:xfrm>
      </p:grpSpPr>
      <p:sp>
        <p:nvSpPr>
          <p:cNvPr id="23" name="Google Shape;23;p49"/>
          <p:cNvSpPr txBox="1">
            <a:spLocks noGrp="1"/>
          </p:cNvSpPr>
          <p:nvPr>
            <p:ph type="title"/>
          </p:nvPr>
        </p:nvSpPr>
        <p:spPr>
          <a:xfrm>
            <a:off x="219897" y="659103"/>
            <a:ext cx="11169301" cy="650138"/>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4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4" name="Google Shape;24;p49"/>
          <p:cNvSpPr txBox="1">
            <a:spLocks noGrp="1"/>
          </p:cNvSpPr>
          <p:nvPr>
            <p:ph type="body" idx="1"/>
          </p:nvPr>
        </p:nvSpPr>
        <p:spPr>
          <a:xfrm>
            <a:off x="0" y="1627444"/>
            <a:ext cx="12192000" cy="4814445"/>
          </a:xfrm>
          <a:prstGeom prst="rect">
            <a:avLst/>
          </a:prstGeom>
          <a:noFill/>
          <a:ln>
            <a:noFill/>
          </a:ln>
        </p:spPr>
        <p:txBody>
          <a:bodyPr spcFirstLastPara="1" wrap="square" lIns="91425" tIns="45700" rIns="91425" bIns="45700" anchor="t" anchorCtr="0">
            <a:normAutofit/>
          </a:bodyPr>
          <a:lstStyle>
            <a:lvl1pPr marL="346075" marR="0" lvl="0" indent="-342900" algn="just" rtl="0">
              <a:lnSpc>
                <a:spcPct val="120000"/>
              </a:lnSpc>
              <a:spcBef>
                <a:spcPts val="0"/>
              </a:spcBef>
              <a:spcAft>
                <a:spcPts val="0"/>
              </a:spcAft>
              <a:buClr>
                <a:srgbClr val="973735"/>
              </a:buClr>
              <a:buSzPct val="50000"/>
              <a:buFont typeface="Noto Sans Symbols"/>
              <a:buChar char="◆"/>
              <a:defRPr lang="en-US" sz="2600" b="0" i="0" u="none" strike="noStrike" cap="none" dirty="0" smtClean="0">
                <a:solidFill>
                  <a:schemeClr val="dk1"/>
                </a:solidFill>
                <a:latin typeface="Arial"/>
                <a:ea typeface="Arial"/>
                <a:cs typeface="Arial"/>
                <a:sym typeface="Arial"/>
              </a:defRPr>
            </a:lvl1pPr>
            <a:lvl2pPr marL="682625" lvl="1" indent="-342900" algn="just">
              <a:lnSpc>
                <a:spcPct val="120000"/>
              </a:lnSpc>
              <a:spcBef>
                <a:spcPts val="0"/>
              </a:spcBef>
              <a:spcAft>
                <a:spcPts val="0"/>
              </a:spcAft>
              <a:buClr>
                <a:srgbClr val="963737"/>
              </a:buClr>
              <a:buSzPts val="1800"/>
              <a:buFont typeface="Wingdings" panose="05000000000000000000" pitchFamily="2" charset="2"/>
              <a:buChar char="§"/>
              <a:defRPr sz="2600"/>
            </a:lvl2pPr>
            <a:lvl3pPr marL="1371600" lvl="2" indent="-342900" algn="l">
              <a:lnSpc>
                <a:spcPct val="90000"/>
              </a:lnSpc>
              <a:spcBef>
                <a:spcPts val="500"/>
              </a:spcBef>
              <a:spcAft>
                <a:spcPts val="0"/>
              </a:spcAft>
              <a:buClr>
                <a:srgbClr val="963737"/>
              </a:buClr>
              <a:buSzPts val="1800"/>
              <a:buChar char="•"/>
              <a:defRPr sz="2300"/>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a:p>
            <a:pPr lvl="1"/>
            <a:endParaRPr lang="en-US" dirty="0"/>
          </a:p>
          <a:p>
            <a:pPr lvl="1"/>
            <a:endParaRPr dirty="0"/>
          </a:p>
        </p:txBody>
      </p:sp>
      <p:sp>
        <p:nvSpPr>
          <p:cNvPr id="26" name="Google Shape;26;p49"/>
          <p:cNvSpPr txBox="1"/>
          <p:nvPr userDrawn="1"/>
        </p:nvSpPr>
        <p:spPr>
          <a:xfrm>
            <a:off x="1" y="600804"/>
            <a:ext cx="219896" cy="867538"/>
          </a:xfrm>
          <a:prstGeom prst="rect">
            <a:avLst/>
          </a:prstGeom>
          <a:solidFill>
            <a:srgbClr val="FB743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 name="Picture 9"/>
          <p:cNvPicPr>
            <a:picLocks noChangeAspect="1"/>
          </p:cNvPicPr>
          <p:nvPr userDrawn="1"/>
        </p:nvPicPr>
        <p:blipFill>
          <a:blip r:embed="rId2"/>
          <a:stretch>
            <a:fillRect/>
          </a:stretch>
        </p:blipFill>
        <p:spPr>
          <a:xfrm>
            <a:off x="11389199" y="25370"/>
            <a:ext cx="802801" cy="1349067"/>
          </a:xfrm>
          <a:prstGeom prst="rect">
            <a:avLst/>
          </a:prstGeom>
        </p:spPr>
      </p:pic>
      <p:pic>
        <p:nvPicPr>
          <p:cNvPr id="3" name="Picture 2">
            <a:extLst>
              <a:ext uri="{FF2B5EF4-FFF2-40B4-BE49-F238E27FC236}">
                <a16:creationId xmlns:a16="http://schemas.microsoft.com/office/drawing/2014/main" id="{C27C59A4-873A-9F24-D0CF-49407B9C51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7909"/>
            <a:ext cx="1197849" cy="582842"/>
          </a:xfrm>
          <a:prstGeom prst="rect">
            <a:avLst/>
          </a:prstGeom>
        </p:spPr>
      </p:pic>
      <p:pic>
        <p:nvPicPr>
          <p:cNvPr id="2" name="Picture 1">
            <a:extLst>
              <a:ext uri="{FF2B5EF4-FFF2-40B4-BE49-F238E27FC236}">
                <a16:creationId xmlns:a16="http://schemas.microsoft.com/office/drawing/2014/main" id="{2C8BF003-DE94-8FC6-3C20-271FF86E136E}"/>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6453319"/>
            <a:ext cx="11784330" cy="41254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449A8C01-8DC2-97C8-4F54-16BE6D03727C}"/>
              </a:ext>
            </a:extLst>
          </p:cNvPr>
          <p:cNvCxnSpPr>
            <a:cxnSpLocks/>
          </p:cNvCxnSpPr>
          <p:nvPr userDrawn="1"/>
        </p:nvCxnSpPr>
        <p:spPr>
          <a:xfrm>
            <a:off x="0" y="1468342"/>
            <a:ext cx="12192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5E00232-167D-C55B-1FD9-04BD27E02609}"/>
              </a:ext>
            </a:extLst>
          </p:cNvPr>
          <p:cNvSpPr txBox="1"/>
          <p:nvPr userDrawn="1"/>
        </p:nvSpPr>
        <p:spPr>
          <a:xfrm>
            <a:off x="15556230" y="3337560"/>
            <a:ext cx="184731" cy="307777"/>
          </a:xfrm>
          <a:prstGeom prst="rect">
            <a:avLst/>
          </a:prstGeom>
          <a:noFill/>
          <a:ln>
            <a:solidFill>
              <a:schemeClr val="accent2"/>
            </a:solidFill>
          </a:ln>
        </p:spPr>
        <p:txBody>
          <a:bodyPr wrap="none" rtlCol="0">
            <a:spAutoFit/>
          </a:bodyPr>
          <a:lstStyle/>
          <a:p>
            <a:endParaRPr lang="en-VN" dirty="0"/>
          </a:p>
        </p:txBody>
      </p:sp>
      <p:sp>
        <p:nvSpPr>
          <p:cNvPr id="25" name="Google Shape;25;p49"/>
          <p:cNvSpPr txBox="1">
            <a:spLocks noGrp="1"/>
          </p:cNvSpPr>
          <p:nvPr>
            <p:ph type="sldNum" idx="12"/>
          </p:nvPr>
        </p:nvSpPr>
        <p:spPr>
          <a:xfrm>
            <a:off x="11784330" y="6460934"/>
            <a:ext cx="412640" cy="387127"/>
          </a:xfrm>
          <a:prstGeom prst="rect">
            <a:avLst/>
          </a:prstGeom>
          <a:solidFill>
            <a:srgbClr val="FB7432"/>
          </a:solidFill>
          <a:ln/>
        </p:spPr>
        <p:style>
          <a:lnRef idx="2">
            <a:schemeClr val="accent2"/>
          </a:lnRef>
          <a:fillRef idx="1">
            <a:schemeClr val="lt1"/>
          </a:fillRef>
          <a:effectRef idx="0">
            <a:schemeClr val="accent2"/>
          </a:effectRef>
          <a:fontRef idx="minor">
            <a:schemeClr val="dk1"/>
          </a:fontRef>
        </p:style>
        <p:txBody>
          <a:bodyPr spcFirstLastPara="1" wrap="none" lIns="91425" tIns="45700" rIns="91425" bIns="45700" anchor="ctr" anchorCtr="0">
            <a:noAutofit/>
          </a:bodyPr>
          <a:lstStyle>
            <a:lvl1pPr marL="0" lvl="0" indent="0" algn="ctr">
              <a:spcBef>
                <a:spcPts val="0"/>
              </a:spcBef>
              <a:buNone/>
              <a:defRPr sz="1400" b="1">
                <a:solidFill>
                  <a:schemeClr val="bg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FB8E955E-38D4-6645-BF9C-5404CE26DFBD}" type="datetime1">
              <a:rPr lang="en-US" smtClean="0"/>
              <a:t>9/9/2026</a:t>
            </a:fld>
            <a:endParaRPr/>
          </a:p>
        </p:txBody>
      </p:sp>
      <p:sp>
        <p:nvSpPr>
          <p:cNvPr id="13" name="Google Shape;1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524000" y="2241458"/>
            <a:ext cx="9202270" cy="17743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a:bodyPr>
          <a:lstStyle/>
          <a:p>
            <a:pPr>
              <a:spcBef>
                <a:spcPct val="0"/>
              </a:spcBef>
            </a:pPr>
            <a:r>
              <a:rPr lang="en-US" sz="4400" b="1" kern="1200">
                <a:solidFill>
                  <a:schemeClr val="accent2"/>
                </a:solidFill>
                <a:latin typeface="Arial" panose="020B0604020202020204" pitchFamily="34" charset="0"/>
                <a:ea typeface="+mj-ea"/>
                <a:cs typeface="Arial" panose="020B0604020202020204" pitchFamily="34" charset="0"/>
              </a:rPr>
              <a:t>React Component  </a:t>
            </a:r>
            <a:endParaRPr sz="4400" b="1" kern="1200" dirty="0">
              <a:solidFill>
                <a:schemeClr val="accent2"/>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Text Placeholder 2"/>
          <p:cNvSpPr>
            <a:spLocks noGrp="1"/>
          </p:cNvSpPr>
          <p:nvPr>
            <p:ph type="body" idx="1"/>
          </p:nvPr>
        </p:nvSpPr>
        <p:spPr/>
        <p:txBody>
          <a:bodyPr>
            <a:normAutofit/>
          </a:bodyPr>
          <a:lstStyle/>
          <a:p>
            <a:pPr>
              <a:lnSpc>
                <a:spcPct val="120000"/>
              </a:lnSpc>
            </a:pPr>
            <a:r>
              <a:rPr lang="en-US" dirty="0"/>
              <a:t>What is React component?</a:t>
            </a:r>
          </a:p>
          <a:p>
            <a:pPr>
              <a:lnSpc>
                <a:spcPct val="120000"/>
              </a:lnSpc>
            </a:pPr>
            <a:r>
              <a:rPr lang="en-US" dirty="0"/>
              <a:t>Use JSX to define the views of your component</a:t>
            </a:r>
          </a:p>
          <a:p>
            <a:pPr>
              <a:lnSpc>
                <a:spcPct val="120000"/>
              </a:lnSpc>
            </a:pPr>
            <a:r>
              <a:rPr lang="en-US" dirty="0"/>
              <a:t>Class Components</a:t>
            </a:r>
          </a:p>
          <a:p>
            <a:pPr>
              <a:lnSpc>
                <a:spcPct val="120000"/>
              </a:lnSpc>
            </a:pPr>
            <a:r>
              <a:rPr lang="en-US" dirty="0"/>
              <a:t>Lifecycle in Class Components</a:t>
            </a:r>
          </a:p>
          <a:p>
            <a:pPr>
              <a:lnSpc>
                <a:spcPct val="120000"/>
              </a:lnSpc>
            </a:pPr>
            <a:r>
              <a:rPr lang="en-US" dirty="0"/>
              <a:t>Functional Components</a:t>
            </a:r>
          </a:p>
          <a:p>
            <a:pPr>
              <a:lnSpc>
                <a:spcPct val="120000"/>
              </a:lnSpc>
            </a:pPr>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1639987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Components</a:t>
            </a:r>
          </a:p>
        </p:txBody>
      </p:sp>
      <p:sp>
        <p:nvSpPr>
          <p:cNvPr id="3" name="Text Placeholder 2"/>
          <p:cNvSpPr>
            <a:spLocks noGrp="1"/>
          </p:cNvSpPr>
          <p:nvPr>
            <p:ph type="body" idx="1"/>
          </p:nvPr>
        </p:nvSpPr>
        <p:spPr/>
        <p:txBody>
          <a:bodyPr/>
          <a:lstStyle/>
          <a:p>
            <a:r>
              <a:rPr lang="en-US" dirty="0"/>
              <a:t>A component returns a set of React elements that should appear on the screen</a:t>
            </a:r>
          </a:p>
          <a:p>
            <a:r>
              <a:rPr lang="en-US" dirty="0"/>
              <a:t>Components enable you to split your UI into independent, reusable pieces</a:t>
            </a:r>
          </a:p>
          <a:p>
            <a:r>
              <a:rPr lang="en-US" dirty="0"/>
              <a:t>Components also accept inputs</a:t>
            </a:r>
          </a:p>
          <a:p>
            <a:r>
              <a:rPr lang="en-US" dirty="0"/>
              <a:t>Different kinds of components can be defined in React</a:t>
            </a:r>
          </a:p>
        </p:txBody>
      </p:sp>
      <p:sp>
        <p:nvSpPr>
          <p:cNvPr id="4" name="Slide Number Placeholder 3"/>
          <p:cNvSpPr>
            <a:spLocks noGrp="1"/>
          </p:cNvSpPr>
          <p:nvPr>
            <p:ph type="sldNum" idx="12"/>
          </p:nvPr>
        </p:nvSpPr>
        <p:spPr/>
        <p:txBody>
          <a:bodyPr/>
          <a:lstStyle/>
          <a:p>
            <a:fld id="{00000000-1234-1234-1234-123412341234}" type="slidenum">
              <a:rPr lang="en-US" smtClean="0"/>
              <a:pPr/>
              <a:t>3</a:t>
            </a:fld>
            <a:endParaRPr lang="en-US" dirty="0"/>
          </a:p>
        </p:txBody>
      </p:sp>
    </p:spTree>
    <p:extLst>
      <p:ext uri="{BB962C8B-B14F-4D97-AF65-F5344CB8AC3E}">
        <p14:creationId xmlns:p14="http://schemas.microsoft.com/office/powerpoint/2010/main" val="645739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3CB6A-116D-FF0F-2224-FD82C3CBF239}"/>
              </a:ext>
            </a:extLst>
          </p:cNvPr>
          <p:cNvSpPr>
            <a:spLocks noGrp="1"/>
          </p:cNvSpPr>
          <p:nvPr>
            <p:ph type="title"/>
          </p:nvPr>
        </p:nvSpPr>
        <p:spPr/>
        <p:txBody>
          <a:bodyPr>
            <a:normAutofit fontScale="90000"/>
          </a:bodyPr>
          <a:lstStyle/>
          <a:p>
            <a:r>
              <a:rPr lang="en-US" sz="4000" b="1" dirty="0">
                <a:solidFill>
                  <a:srgbClr val="002060"/>
                </a:solidFill>
                <a:latin typeface="Arial"/>
                <a:ea typeface="Arial"/>
                <a:cs typeface="Arial"/>
                <a:sym typeface="Arial"/>
              </a:rPr>
              <a:t>What is a Component?</a:t>
            </a:r>
            <a:br>
              <a:rPr lang="en-US" sz="4000" b="1" dirty="0">
                <a:solidFill>
                  <a:srgbClr val="002060"/>
                </a:solidFill>
                <a:latin typeface="Arial"/>
                <a:ea typeface="Arial"/>
                <a:cs typeface="Arial"/>
                <a:sym typeface="Arial"/>
              </a:rPr>
            </a:br>
            <a:endParaRPr lang="en-US" dirty="0"/>
          </a:p>
        </p:txBody>
      </p:sp>
      <p:sp>
        <p:nvSpPr>
          <p:cNvPr id="3" name="Text Placeholder 2">
            <a:extLst>
              <a:ext uri="{FF2B5EF4-FFF2-40B4-BE49-F238E27FC236}">
                <a16:creationId xmlns:a16="http://schemas.microsoft.com/office/drawing/2014/main" id="{D56F79D2-8209-5399-982B-746A5C226152}"/>
              </a:ext>
            </a:extLst>
          </p:cNvPr>
          <p:cNvSpPr>
            <a:spLocks noGrp="1"/>
          </p:cNvSpPr>
          <p:nvPr>
            <p:ph type="body" idx="1"/>
          </p:nvPr>
        </p:nvSpPr>
        <p:spPr/>
        <p:txBody>
          <a:bodyPr/>
          <a:lstStyle/>
          <a:p>
            <a:pPr marL="342900" algn="just">
              <a:lnSpc>
                <a:spcPct val="120000"/>
              </a:lnSpc>
              <a:spcBef>
                <a:spcPts val="0"/>
              </a:spcBef>
              <a:buClr>
                <a:srgbClr val="973735"/>
              </a:buClr>
              <a:buSzPct val="50000"/>
              <a:buFont typeface="Noto Sans Symbols"/>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Components are the building blocks of React applications. </a:t>
            </a:r>
          </a:p>
          <a:p>
            <a:pPr marL="342900" algn="just">
              <a:lnSpc>
                <a:spcPct val="120000"/>
              </a:lnSpc>
              <a:spcBef>
                <a:spcPts val="0"/>
              </a:spcBef>
              <a:buClr>
                <a:srgbClr val="973735"/>
              </a:buClr>
              <a:buSzPct val="50000"/>
              <a:buFont typeface="Noto Sans Symbols"/>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A React component is a function or a JavaScript class that optionally accepts data and returns a React element that describes some piece of the user interface. </a:t>
            </a:r>
          </a:p>
          <a:p>
            <a:pPr marL="342900" algn="just">
              <a:lnSpc>
                <a:spcPct val="120000"/>
              </a:lnSpc>
              <a:spcBef>
                <a:spcPts val="0"/>
              </a:spcBef>
              <a:buClr>
                <a:srgbClr val="973735"/>
              </a:buClr>
              <a:buSzPct val="50000"/>
              <a:buFont typeface="Noto Sans Symbols"/>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A React user interface is made up of a hierarchy of components that build up to a single component (called the root component) that is rendered in the web browser</a:t>
            </a:r>
          </a:p>
          <a:p>
            <a:endParaRPr lang="en-US" dirty="0"/>
          </a:p>
        </p:txBody>
      </p:sp>
      <p:sp>
        <p:nvSpPr>
          <p:cNvPr id="4" name="Slide Number Placeholder 3">
            <a:extLst>
              <a:ext uri="{FF2B5EF4-FFF2-40B4-BE49-F238E27FC236}">
                <a16:creationId xmlns:a16="http://schemas.microsoft.com/office/drawing/2014/main" id="{E16904A5-8A2B-D4FF-C540-9DDA256A106E}"/>
              </a:ext>
            </a:extLst>
          </p:cNvPr>
          <p:cNvSpPr>
            <a:spLocks noGrp="1"/>
          </p:cNvSpPr>
          <p:nvPr>
            <p:ph type="sldNum" idx="12"/>
          </p:nvPr>
        </p:nvSpPr>
        <p:spPr/>
        <p:txBody>
          <a:bodyPr/>
          <a:lstStyle/>
          <a:p>
            <a:fld id="{00000000-1234-1234-1234-123412341234}" type="slidenum">
              <a:rPr lang="en-US" smtClean="0"/>
              <a:pPr/>
              <a:t>4</a:t>
            </a:fld>
            <a:endParaRPr lang="en-US" dirty="0"/>
          </a:p>
        </p:txBody>
      </p:sp>
    </p:spTree>
    <p:extLst>
      <p:ext uri="{BB962C8B-B14F-4D97-AF65-F5344CB8AC3E}">
        <p14:creationId xmlns:p14="http://schemas.microsoft.com/office/powerpoint/2010/main" val="134743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CD26A-8B6A-6ADE-6A4A-7F1F36EF2AB9}"/>
              </a:ext>
            </a:extLst>
          </p:cNvPr>
          <p:cNvSpPr>
            <a:spLocks noGrp="1"/>
          </p:cNvSpPr>
          <p:nvPr>
            <p:ph type="title"/>
          </p:nvPr>
        </p:nvSpPr>
        <p:spPr>
          <a:xfrm>
            <a:off x="283397" y="735303"/>
            <a:ext cx="11169301" cy="650138"/>
          </a:xfrm>
        </p:spPr>
        <p:txBody>
          <a:bodyPr/>
          <a:lstStyle/>
          <a:p>
            <a:r>
              <a:rPr lang="en-US" dirty="0"/>
              <a:t>Importance of Components</a:t>
            </a:r>
          </a:p>
        </p:txBody>
      </p:sp>
      <p:sp>
        <p:nvSpPr>
          <p:cNvPr id="3" name="Text Placeholder 2">
            <a:extLst>
              <a:ext uri="{FF2B5EF4-FFF2-40B4-BE49-F238E27FC236}">
                <a16:creationId xmlns:a16="http://schemas.microsoft.com/office/drawing/2014/main" id="{DD8409EF-B2D7-9A4F-FD69-35878B01C735}"/>
              </a:ext>
            </a:extLst>
          </p:cNvPr>
          <p:cNvSpPr>
            <a:spLocks noGrp="1"/>
          </p:cNvSpPr>
          <p:nvPr>
            <p:ph type="body" idx="1"/>
          </p:nvPr>
        </p:nvSpPr>
        <p:spPr/>
        <p:txBody>
          <a:bodyPr/>
          <a:lstStyle/>
          <a:p>
            <a:r>
              <a:rPr lang="en-US" dirty="0"/>
              <a:t>Reusability</a:t>
            </a:r>
          </a:p>
          <a:p>
            <a:r>
              <a:rPr lang="en-US" dirty="0"/>
              <a:t>Encapsulation</a:t>
            </a:r>
          </a:p>
          <a:p>
            <a:r>
              <a:rPr lang="en-US" dirty="0"/>
              <a:t>Composition</a:t>
            </a:r>
          </a:p>
          <a:p>
            <a:r>
              <a:rPr lang="en-US" dirty="0"/>
              <a:t>Unidirectional Data Flow</a:t>
            </a:r>
          </a:p>
          <a:p>
            <a:r>
              <a:rPr lang="en-US" dirty="0"/>
              <a:t>Efficiency</a:t>
            </a:r>
          </a:p>
          <a:p>
            <a:endParaRPr lang="en-US" dirty="0"/>
          </a:p>
        </p:txBody>
      </p:sp>
      <p:sp>
        <p:nvSpPr>
          <p:cNvPr id="4" name="Slide Number Placeholder 3">
            <a:extLst>
              <a:ext uri="{FF2B5EF4-FFF2-40B4-BE49-F238E27FC236}">
                <a16:creationId xmlns:a16="http://schemas.microsoft.com/office/drawing/2014/main" id="{755956DA-FADC-FA73-5893-38013DEC6446}"/>
              </a:ext>
            </a:extLst>
          </p:cNvPr>
          <p:cNvSpPr>
            <a:spLocks noGrp="1"/>
          </p:cNvSpPr>
          <p:nvPr>
            <p:ph type="sldNum" idx="12"/>
          </p:nvPr>
        </p:nvSpPr>
        <p:spPr/>
        <p:txBody>
          <a:bodyPr/>
          <a:lstStyle/>
          <a:p>
            <a:fld id="{00000000-1234-1234-1234-123412341234}" type="slidenum">
              <a:rPr lang="en-US" smtClean="0"/>
              <a:pPr/>
              <a:t>5</a:t>
            </a:fld>
            <a:endParaRPr lang="en-US" dirty="0"/>
          </a:p>
        </p:txBody>
      </p:sp>
    </p:spTree>
    <p:extLst>
      <p:ext uri="{BB962C8B-B14F-4D97-AF65-F5344CB8AC3E}">
        <p14:creationId xmlns:p14="http://schemas.microsoft.com/office/powerpoint/2010/main" val="3423922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58F36-E56E-EFDC-AB5A-9584B093A8FF}"/>
              </a:ext>
            </a:extLst>
          </p:cNvPr>
          <p:cNvSpPr>
            <a:spLocks noGrp="1"/>
          </p:cNvSpPr>
          <p:nvPr>
            <p:ph type="title"/>
          </p:nvPr>
        </p:nvSpPr>
        <p:spPr/>
        <p:txBody>
          <a:bodyPr/>
          <a:lstStyle/>
          <a:p>
            <a:r>
              <a:rPr lang="en-US" dirty="0"/>
              <a:t>JavaScript XML (JSX)</a:t>
            </a:r>
          </a:p>
        </p:txBody>
      </p:sp>
      <p:sp>
        <p:nvSpPr>
          <p:cNvPr id="3" name="Text Placeholder 2">
            <a:extLst>
              <a:ext uri="{FF2B5EF4-FFF2-40B4-BE49-F238E27FC236}">
                <a16:creationId xmlns:a16="http://schemas.microsoft.com/office/drawing/2014/main" id="{750C39DC-65CA-C7ED-094B-290CEF5A2E06}"/>
              </a:ext>
            </a:extLst>
          </p:cNvPr>
          <p:cNvSpPr>
            <a:spLocks noGrp="1"/>
          </p:cNvSpPr>
          <p:nvPr>
            <p:ph type="body" idx="1"/>
          </p:nvPr>
        </p:nvSpPr>
        <p:spPr>
          <a:xfrm>
            <a:off x="0" y="1627444"/>
            <a:ext cx="6912077" cy="4814445"/>
          </a:xfrm>
        </p:spPr>
        <p:txBody>
          <a:bodyPr/>
          <a:lstStyle/>
          <a:p>
            <a:r>
              <a:rPr lang="en-US" dirty="0"/>
              <a:t>Syntactic extension to JavaScript</a:t>
            </a:r>
          </a:p>
          <a:p>
            <a:r>
              <a:rPr lang="en-US" dirty="0"/>
              <a:t>Shorthand notation to represent JavaScript  functions calls that evaluate to JavaScript objects</a:t>
            </a:r>
          </a:p>
          <a:p>
            <a:r>
              <a:rPr lang="en-US" dirty="0"/>
              <a:t>Avoids artificial separation of rendering logic from other UI logic</a:t>
            </a:r>
          </a:p>
          <a:p>
            <a:r>
              <a:rPr lang="en-US" dirty="0"/>
              <a:t>JSX makes it easier to write and add HTML in React.</a:t>
            </a:r>
          </a:p>
          <a:p>
            <a:endParaRPr lang="en-US" dirty="0"/>
          </a:p>
        </p:txBody>
      </p:sp>
      <p:sp>
        <p:nvSpPr>
          <p:cNvPr id="4" name="Slide Number Placeholder 3">
            <a:extLst>
              <a:ext uri="{FF2B5EF4-FFF2-40B4-BE49-F238E27FC236}">
                <a16:creationId xmlns:a16="http://schemas.microsoft.com/office/drawing/2014/main" id="{C222B8D2-EC86-628B-DF67-594511F517CF}"/>
              </a:ext>
            </a:extLst>
          </p:cNvPr>
          <p:cNvSpPr>
            <a:spLocks noGrp="1"/>
          </p:cNvSpPr>
          <p:nvPr>
            <p:ph type="sldNum" idx="12"/>
          </p:nvPr>
        </p:nvSpPr>
        <p:spPr/>
        <p:txBody>
          <a:bodyPr/>
          <a:lstStyle/>
          <a:p>
            <a:fld id="{00000000-1234-1234-1234-123412341234}" type="slidenum">
              <a:rPr lang="en-US" smtClean="0"/>
              <a:pPr/>
              <a:t>6</a:t>
            </a:fld>
            <a:endParaRPr lang="en-US" dirty="0"/>
          </a:p>
        </p:txBody>
      </p:sp>
      <p:pic>
        <p:nvPicPr>
          <p:cNvPr id="5" name="Picture 4">
            <a:extLst>
              <a:ext uri="{FF2B5EF4-FFF2-40B4-BE49-F238E27FC236}">
                <a16:creationId xmlns:a16="http://schemas.microsoft.com/office/drawing/2014/main" id="{06FB2EA6-7B38-482B-8DAF-842BBDF3FCF5}"/>
              </a:ext>
            </a:extLst>
          </p:cNvPr>
          <p:cNvPicPr>
            <a:picLocks noChangeAspect="1"/>
          </p:cNvPicPr>
          <p:nvPr/>
        </p:nvPicPr>
        <p:blipFill rotWithShape="1">
          <a:blip r:embed="rId3"/>
          <a:srcRect l="12134" t="10748" r="11810" b="9677"/>
          <a:stretch/>
        </p:blipFill>
        <p:spPr>
          <a:xfrm>
            <a:off x="7225560" y="1627444"/>
            <a:ext cx="4350985" cy="2382007"/>
          </a:xfrm>
          <a:prstGeom prst="rect">
            <a:avLst/>
          </a:prstGeom>
          <a:ln>
            <a:noFill/>
          </a:ln>
          <a:effectLst>
            <a:outerShdw blurRad="190500" algn="tl" rotWithShape="0">
              <a:srgbClr val="000000">
                <a:alpha val="70000"/>
              </a:srgbClr>
            </a:outerShdw>
          </a:effectLst>
        </p:spPr>
      </p:pic>
      <p:pic>
        <p:nvPicPr>
          <p:cNvPr id="6" name="Google Shape;256;p23">
            <a:extLst>
              <a:ext uri="{FF2B5EF4-FFF2-40B4-BE49-F238E27FC236}">
                <a16:creationId xmlns:a16="http://schemas.microsoft.com/office/drawing/2014/main" id="{4DD6CE7E-65CF-1A3D-46E9-A622FA7E4E7F}"/>
              </a:ext>
            </a:extLst>
          </p:cNvPr>
          <p:cNvPicPr preferRelativeResize="0"/>
          <p:nvPr/>
        </p:nvPicPr>
        <p:blipFill rotWithShape="1">
          <a:blip r:embed="rId4">
            <a:alphaModFix/>
          </a:blip>
          <a:srcRect/>
          <a:stretch/>
        </p:blipFill>
        <p:spPr>
          <a:xfrm>
            <a:off x="7225560" y="4231754"/>
            <a:ext cx="4350985" cy="191340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18911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5865-F5BB-6B0D-8536-5182C5926D3E}"/>
              </a:ext>
            </a:extLst>
          </p:cNvPr>
          <p:cNvSpPr>
            <a:spLocks noGrp="1"/>
          </p:cNvSpPr>
          <p:nvPr>
            <p:ph type="title"/>
          </p:nvPr>
        </p:nvSpPr>
        <p:spPr/>
        <p:txBody>
          <a:bodyPr/>
          <a:lstStyle/>
          <a:p>
            <a:r>
              <a:rPr lang="en-US" dirty="0"/>
              <a:t>Fragments of JSX</a:t>
            </a:r>
          </a:p>
        </p:txBody>
      </p:sp>
      <p:sp>
        <p:nvSpPr>
          <p:cNvPr id="3" name="Text Placeholder 2">
            <a:extLst>
              <a:ext uri="{FF2B5EF4-FFF2-40B4-BE49-F238E27FC236}">
                <a16:creationId xmlns:a16="http://schemas.microsoft.com/office/drawing/2014/main" id="{B49B7250-2D15-93F4-0458-B199FDB92ADC}"/>
              </a:ext>
            </a:extLst>
          </p:cNvPr>
          <p:cNvSpPr>
            <a:spLocks noGrp="1"/>
          </p:cNvSpPr>
          <p:nvPr>
            <p:ph type="body" idx="1"/>
          </p:nvPr>
        </p:nvSpPr>
        <p:spPr/>
        <p:txBody>
          <a:bodyPr/>
          <a:lstStyle/>
          <a:p>
            <a:r>
              <a:rPr lang="en-US" dirty="0"/>
              <a:t>Fragments are a way to group together chunks of markup without having to add unnecessary structure to your page.</a:t>
            </a:r>
          </a:p>
          <a:p>
            <a:r>
              <a:rPr lang="en-US" dirty="0"/>
              <a:t>When a component renders a fragment, React knows to render the fragment's child element wherever the component is used</a:t>
            </a:r>
          </a:p>
          <a:p>
            <a:endParaRPr lang="en-US" dirty="0"/>
          </a:p>
        </p:txBody>
      </p:sp>
      <p:sp>
        <p:nvSpPr>
          <p:cNvPr id="4" name="Slide Number Placeholder 3">
            <a:extLst>
              <a:ext uri="{FF2B5EF4-FFF2-40B4-BE49-F238E27FC236}">
                <a16:creationId xmlns:a16="http://schemas.microsoft.com/office/drawing/2014/main" id="{7009507D-2933-80F9-AA79-A183C301956F}"/>
              </a:ext>
            </a:extLst>
          </p:cNvPr>
          <p:cNvSpPr>
            <a:spLocks noGrp="1"/>
          </p:cNvSpPr>
          <p:nvPr>
            <p:ph type="sldNum" idx="12"/>
          </p:nvPr>
        </p:nvSpPr>
        <p:spPr/>
        <p:txBody>
          <a:bodyPr/>
          <a:lstStyle/>
          <a:p>
            <a:fld id="{00000000-1234-1234-1234-123412341234}" type="slidenum">
              <a:rPr lang="en-US" smtClean="0"/>
              <a:pPr/>
              <a:t>7</a:t>
            </a:fld>
            <a:endParaRPr lang="en-US" dirty="0"/>
          </a:p>
        </p:txBody>
      </p:sp>
    </p:spTree>
    <p:extLst>
      <p:ext uri="{BB962C8B-B14F-4D97-AF65-F5344CB8AC3E}">
        <p14:creationId xmlns:p14="http://schemas.microsoft.com/office/powerpoint/2010/main" val="58155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CBE4C-E4AC-5666-40BF-821371E5A1E7}"/>
              </a:ext>
            </a:extLst>
          </p:cNvPr>
          <p:cNvSpPr>
            <a:spLocks noGrp="1"/>
          </p:cNvSpPr>
          <p:nvPr>
            <p:ph type="title"/>
          </p:nvPr>
        </p:nvSpPr>
        <p:spPr/>
        <p:txBody>
          <a:bodyPr/>
          <a:lstStyle/>
          <a:p>
            <a:r>
              <a:rPr lang="en-US" dirty="0"/>
              <a:t>Fragments of JSX - Demo</a:t>
            </a:r>
          </a:p>
        </p:txBody>
      </p:sp>
      <p:sp>
        <p:nvSpPr>
          <p:cNvPr id="3" name="Text Placeholder 2">
            <a:extLst>
              <a:ext uri="{FF2B5EF4-FFF2-40B4-BE49-F238E27FC236}">
                <a16:creationId xmlns:a16="http://schemas.microsoft.com/office/drawing/2014/main" id="{71D0C5F7-FE8F-29F8-2723-8D791BD07A3D}"/>
              </a:ext>
            </a:extLst>
          </p:cNvPr>
          <p:cNvSpPr>
            <a:spLocks noGrp="1"/>
          </p:cNvSpPr>
          <p:nvPr>
            <p:ph type="body" idx="1"/>
          </p:nvPr>
        </p:nvSpPr>
        <p:spPr/>
        <p:txBody>
          <a:bodyPr/>
          <a:lstStyle/>
          <a:p>
            <a:r>
              <a:rPr lang="en-US" dirty="0"/>
              <a:t>Instead of wrapping the component content in &lt;div&gt;, the &lt;&gt; element is used. This is a special type of element that indicates that only its children need to be rendered.</a:t>
            </a:r>
          </a:p>
        </p:txBody>
      </p:sp>
      <p:sp>
        <p:nvSpPr>
          <p:cNvPr id="4" name="Slide Number Placeholder 3">
            <a:extLst>
              <a:ext uri="{FF2B5EF4-FFF2-40B4-BE49-F238E27FC236}">
                <a16:creationId xmlns:a16="http://schemas.microsoft.com/office/drawing/2014/main" id="{1A47615E-680F-CD60-BCB2-D49F80FCABC7}"/>
              </a:ext>
            </a:extLst>
          </p:cNvPr>
          <p:cNvSpPr>
            <a:spLocks noGrp="1"/>
          </p:cNvSpPr>
          <p:nvPr>
            <p:ph type="sldNum" idx="12"/>
          </p:nvPr>
        </p:nvSpPr>
        <p:spPr/>
        <p:txBody>
          <a:bodyPr/>
          <a:lstStyle/>
          <a:p>
            <a:fld id="{00000000-1234-1234-1234-123412341234}" type="slidenum">
              <a:rPr lang="en-US" smtClean="0"/>
              <a:pPr/>
              <a:t>8</a:t>
            </a:fld>
            <a:endParaRPr lang="en-US" dirty="0"/>
          </a:p>
        </p:txBody>
      </p:sp>
      <p:pic>
        <p:nvPicPr>
          <p:cNvPr id="6" name="Picture 5">
            <a:extLst>
              <a:ext uri="{FF2B5EF4-FFF2-40B4-BE49-F238E27FC236}">
                <a16:creationId xmlns:a16="http://schemas.microsoft.com/office/drawing/2014/main" id="{1BF82D27-D84C-43F4-D220-3B591CD7BF12}"/>
              </a:ext>
            </a:extLst>
          </p:cNvPr>
          <p:cNvPicPr>
            <a:picLocks noChangeAspect="1"/>
          </p:cNvPicPr>
          <p:nvPr/>
        </p:nvPicPr>
        <p:blipFill>
          <a:blip r:embed="rId3"/>
          <a:stretch>
            <a:fillRect/>
          </a:stretch>
        </p:blipFill>
        <p:spPr>
          <a:xfrm>
            <a:off x="1336277" y="3429000"/>
            <a:ext cx="4229690" cy="1790950"/>
          </a:xfrm>
          <a:prstGeom prst="rect">
            <a:avLst/>
          </a:prstGeom>
          <a:ln>
            <a:noFill/>
          </a:ln>
          <a:effectLst>
            <a:outerShdw blurRad="190500" algn="tl" rotWithShape="0">
              <a:srgbClr val="000000">
                <a:alpha val="70000"/>
              </a:srgbClr>
            </a:outerShdw>
          </a:effectLst>
        </p:spPr>
      </p:pic>
      <p:cxnSp>
        <p:nvCxnSpPr>
          <p:cNvPr id="12" name="Straight Arrow Connector 11">
            <a:extLst>
              <a:ext uri="{FF2B5EF4-FFF2-40B4-BE49-F238E27FC236}">
                <a16:creationId xmlns:a16="http://schemas.microsoft.com/office/drawing/2014/main" id="{449B342C-1208-B7D8-AC37-CDB4E386FE54}"/>
              </a:ext>
            </a:extLst>
          </p:cNvPr>
          <p:cNvCxnSpPr>
            <a:cxnSpLocks/>
            <a:stCxn id="6" idx="3"/>
          </p:cNvCxnSpPr>
          <p:nvPr/>
        </p:nvCxnSpPr>
        <p:spPr>
          <a:xfrm>
            <a:off x="5565967" y="4324475"/>
            <a:ext cx="1218291" cy="270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pic>
        <p:nvPicPr>
          <p:cNvPr id="14" name="Picture 13">
            <a:extLst>
              <a:ext uri="{FF2B5EF4-FFF2-40B4-BE49-F238E27FC236}">
                <a16:creationId xmlns:a16="http://schemas.microsoft.com/office/drawing/2014/main" id="{DE7F36F8-B7CE-EF13-850E-B6811E34309D}"/>
              </a:ext>
            </a:extLst>
          </p:cNvPr>
          <p:cNvPicPr>
            <a:picLocks noChangeAspect="1"/>
          </p:cNvPicPr>
          <p:nvPr/>
        </p:nvPicPr>
        <p:blipFill>
          <a:blip r:embed="rId4"/>
          <a:stretch>
            <a:fillRect/>
          </a:stretch>
        </p:blipFill>
        <p:spPr>
          <a:xfrm>
            <a:off x="6803310" y="3429000"/>
            <a:ext cx="4210638" cy="173379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7832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Components</a:t>
            </a:r>
          </a:p>
        </p:txBody>
      </p:sp>
      <p:sp>
        <p:nvSpPr>
          <p:cNvPr id="3" name="Text Placeholder 2"/>
          <p:cNvSpPr>
            <a:spLocks noGrp="1"/>
          </p:cNvSpPr>
          <p:nvPr>
            <p:ph type="body" idx="1"/>
          </p:nvPr>
        </p:nvSpPr>
        <p:spPr>
          <a:xfrm>
            <a:off x="0" y="1627444"/>
            <a:ext cx="8190269" cy="4814445"/>
          </a:xfrm>
        </p:spPr>
        <p:txBody>
          <a:bodyPr/>
          <a:lstStyle/>
          <a:p>
            <a:r>
              <a:rPr lang="en-US" dirty="0"/>
              <a:t>Create class components, also known as stateful components, using JavaScript classes. </a:t>
            </a:r>
          </a:p>
          <a:p>
            <a:r>
              <a:rPr lang="en-US" dirty="0"/>
              <a:t>Manage state and lifecycle methods.</a:t>
            </a:r>
          </a:p>
          <a:p>
            <a:r>
              <a:rPr lang="en-US" dirty="0"/>
              <a:t>Use class components for scenarios requiring state or when specific events such as component creation or updates call for actions.</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9</a:t>
            </a:fld>
            <a:endParaRPr lang="en-US" dirty="0"/>
          </a:p>
        </p:txBody>
      </p:sp>
      <p:pic>
        <p:nvPicPr>
          <p:cNvPr id="6" name="Picture 5">
            <a:extLst>
              <a:ext uri="{FF2B5EF4-FFF2-40B4-BE49-F238E27FC236}">
                <a16:creationId xmlns:a16="http://schemas.microsoft.com/office/drawing/2014/main" id="{9D472CE8-A5F2-A018-ECB6-D3519CDD79D2}"/>
              </a:ext>
            </a:extLst>
          </p:cNvPr>
          <p:cNvPicPr>
            <a:picLocks noChangeAspect="1"/>
          </p:cNvPicPr>
          <p:nvPr/>
        </p:nvPicPr>
        <p:blipFill>
          <a:blip r:embed="rId3"/>
          <a:stretch>
            <a:fillRect/>
          </a:stretch>
        </p:blipFill>
        <p:spPr>
          <a:xfrm>
            <a:off x="8242543" y="2328365"/>
            <a:ext cx="3748107" cy="110063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96525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in Class Components</a:t>
            </a:r>
          </a:p>
        </p:txBody>
      </p:sp>
      <p:sp>
        <p:nvSpPr>
          <p:cNvPr id="3" name="Text Placeholder 2"/>
          <p:cNvSpPr>
            <a:spLocks noGrp="1"/>
          </p:cNvSpPr>
          <p:nvPr>
            <p:ph type="body" idx="1"/>
          </p:nvPr>
        </p:nvSpPr>
        <p:spPr/>
        <p:txBody>
          <a:bodyPr/>
          <a:lstStyle/>
          <a:p>
            <a:r>
              <a:rPr lang="en-US" dirty="0"/>
              <a:t>Class Component goes through the following lifecycle stages:</a:t>
            </a:r>
          </a:p>
          <a:p>
            <a:r>
              <a:rPr lang="en-US" dirty="0"/>
              <a:t>Mounting</a:t>
            </a:r>
          </a:p>
          <a:p>
            <a:r>
              <a:rPr lang="en-US" dirty="0"/>
              <a:t>Updating</a:t>
            </a:r>
          </a:p>
          <a:p>
            <a:r>
              <a:rPr lang="en-US" dirty="0"/>
              <a:t>Unmounting</a:t>
            </a:r>
          </a:p>
          <a:p>
            <a:r>
              <a:rPr lang="en-US" dirty="0"/>
              <a:t>Several lifecycle methods available in each stage:</a:t>
            </a:r>
          </a:p>
          <a:p>
            <a:pPr lvl="1"/>
            <a:r>
              <a:rPr lang="en-US" dirty="0"/>
              <a:t>constructor(props)</a:t>
            </a:r>
          </a:p>
          <a:p>
            <a:pPr lvl="1"/>
            <a:r>
              <a:rPr lang="en-US" dirty="0" err="1"/>
              <a:t>componentDidMount</a:t>
            </a:r>
            <a:r>
              <a:rPr lang="en-US" dirty="0"/>
              <a:t>()</a:t>
            </a:r>
          </a:p>
          <a:p>
            <a:pPr lvl="1"/>
            <a:r>
              <a:rPr lang="en-US" dirty="0" err="1"/>
              <a:t>componentDidUpdate</a:t>
            </a:r>
            <a:r>
              <a:rPr lang="en-US" dirty="0"/>
              <a:t>(</a:t>
            </a:r>
            <a:r>
              <a:rPr lang="en-US" dirty="0" err="1"/>
              <a:t>prevProps</a:t>
            </a:r>
            <a:r>
              <a:rPr lang="en-US" dirty="0"/>
              <a:t>, </a:t>
            </a:r>
            <a:r>
              <a:rPr lang="en-US" dirty="0" err="1"/>
              <a:t>prevState</a:t>
            </a:r>
            <a:r>
              <a:rPr lang="en-US" dirty="0"/>
              <a:t>, snapshot)</a:t>
            </a:r>
          </a:p>
          <a:p>
            <a:pPr lvl="1"/>
            <a:r>
              <a:rPr lang="en-US" dirty="0" err="1"/>
              <a:t>componentWillUnmount</a:t>
            </a:r>
            <a:r>
              <a:rPr lang="en-US" dirty="0"/>
              <a:t>()</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10</a:t>
            </a:fld>
            <a:endParaRPr lang="en-US" dirty="0"/>
          </a:p>
        </p:txBody>
      </p:sp>
    </p:spTree>
    <p:extLst>
      <p:ext uri="{BB962C8B-B14F-4D97-AF65-F5344CB8AC3E}">
        <p14:creationId xmlns:p14="http://schemas.microsoft.com/office/powerpoint/2010/main" val="2092694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Lifecycle in Class Components (cont.)</a:t>
            </a:r>
          </a:p>
        </p:txBody>
      </p:sp>
      <p:sp>
        <p:nvSpPr>
          <p:cNvPr id="4" name="Slide Number Placeholder 3"/>
          <p:cNvSpPr>
            <a:spLocks noGrp="1"/>
          </p:cNvSpPr>
          <p:nvPr>
            <p:ph type="sldNum" idx="12"/>
          </p:nvPr>
        </p:nvSpPr>
        <p:spPr/>
        <p:txBody>
          <a:bodyPr/>
          <a:lstStyle/>
          <a:p>
            <a:fld id="{00000000-1234-1234-1234-123412341234}" type="slidenum">
              <a:rPr lang="en-US" smtClean="0"/>
              <a:pPr/>
              <a:t>11</a:t>
            </a:fld>
            <a:endParaRPr lang="en-US" dirty="0"/>
          </a:p>
        </p:txBody>
      </p:sp>
      <p:pic>
        <p:nvPicPr>
          <p:cNvPr id="5" name="Picture 4">
            <a:extLst>
              <a:ext uri="{FF2B5EF4-FFF2-40B4-BE49-F238E27FC236}">
                <a16:creationId xmlns:a16="http://schemas.microsoft.com/office/drawing/2014/main" id="{46A2E9B4-434C-4F1D-A15D-9D9D72162D17}"/>
              </a:ext>
            </a:extLst>
          </p:cNvPr>
          <p:cNvPicPr>
            <a:picLocks noChangeAspect="1"/>
          </p:cNvPicPr>
          <p:nvPr/>
        </p:nvPicPr>
        <p:blipFill>
          <a:blip r:embed="rId2"/>
          <a:stretch>
            <a:fillRect/>
          </a:stretch>
        </p:blipFill>
        <p:spPr>
          <a:xfrm>
            <a:off x="1288026" y="1598900"/>
            <a:ext cx="10229136" cy="472400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132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4C6F-4BE9-453C-463B-9D5498B2C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705FE-0C12-6B36-5B99-DAEEC6DE89AE}"/>
              </a:ext>
            </a:extLst>
          </p:cNvPr>
          <p:cNvSpPr>
            <a:spLocks noGrp="1"/>
          </p:cNvSpPr>
          <p:nvPr>
            <p:ph type="title"/>
          </p:nvPr>
        </p:nvSpPr>
        <p:spPr/>
        <p:txBody>
          <a:bodyPr/>
          <a:lstStyle/>
          <a:p>
            <a:r>
              <a:rPr lang="en-US" dirty="0"/>
              <a:t>Functional Components</a:t>
            </a:r>
          </a:p>
        </p:txBody>
      </p:sp>
      <p:sp>
        <p:nvSpPr>
          <p:cNvPr id="3" name="Text Placeholder 2">
            <a:extLst>
              <a:ext uri="{FF2B5EF4-FFF2-40B4-BE49-F238E27FC236}">
                <a16:creationId xmlns:a16="http://schemas.microsoft.com/office/drawing/2014/main" id="{7F1EAE58-D478-70CB-3C87-8D98F96E65E3}"/>
              </a:ext>
            </a:extLst>
          </p:cNvPr>
          <p:cNvSpPr>
            <a:spLocks noGrp="1"/>
          </p:cNvSpPr>
          <p:nvPr>
            <p:ph type="body" idx="1"/>
          </p:nvPr>
        </p:nvSpPr>
        <p:spPr>
          <a:xfrm>
            <a:off x="0" y="1627444"/>
            <a:ext cx="8003458" cy="4814445"/>
          </a:xfrm>
        </p:spPr>
        <p:txBody>
          <a:bodyPr/>
          <a:lstStyle/>
          <a:p>
            <a:r>
              <a:rPr lang="en-US" dirty="0"/>
              <a:t>Hooks: It allow you to use React features such as state, lifecycle methods, and context as Class Component. </a:t>
            </a:r>
          </a:p>
          <a:p>
            <a:r>
              <a:rPr lang="en-US" dirty="0"/>
              <a:t>Function Component (Stateless Component)</a:t>
            </a:r>
          </a:p>
          <a:p>
            <a:r>
              <a:rPr lang="en-US" dirty="0"/>
              <a:t>A functional component is simply a JavaScript function with Hooks. </a:t>
            </a:r>
          </a:p>
          <a:p>
            <a:r>
              <a:rPr lang="en-US" dirty="0"/>
              <a:t>It returns the html code that describes the UI</a:t>
            </a:r>
          </a:p>
          <a:p>
            <a:endParaRPr lang="en-US" dirty="0"/>
          </a:p>
        </p:txBody>
      </p:sp>
      <p:sp>
        <p:nvSpPr>
          <p:cNvPr id="4" name="Slide Number Placeholder 3">
            <a:extLst>
              <a:ext uri="{FF2B5EF4-FFF2-40B4-BE49-F238E27FC236}">
                <a16:creationId xmlns:a16="http://schemas.microsoft.com/office/drawing/2014/main" id="{2E9C542C-862F-42B9-DB46-20BB63679DDA}"/>
              </a:ext>
            </a:extLst>
          </p:cNvPr>
          <p:cNvSpPr>
            <a:spLocks noGrp="1"/>
          </p:cNvSpPr>
          <p:nvPr>
            <p:ph type="sldNum" idx="12"/>
          </p:nvPr>
        </p:nvSpPr>
        <p:spPr/>
        <p:txBody>
          <a:bodyPr/>
          <a:lstStyle/>
          <a:p>
            <a:fld id="{00000000-1234-1234-1234-123412341234}" type="slidenum">
              <a:rPr lang="en-US" smtClean="0"/>
              <a:pPr/>
              <a:t>12</a:t>
            </a:fld>
            <a:endParaRPr lang="en-US" dirty="0"/>
          </a:p>
        </p:txBody>
      </p:sp>
      <p:pic>
        <p:nvPicPr>
          <p:cNvPr id="8" name="Picture 7">
            <a:extLst>
              <a:ext uri="{FF2B5EF4-FFF2-40B4-BE49-F238E27FC236}">
                <a16:creationId xmlns:a16="http://schemas.microsoft.com/office/drawing/2014/main" id="{ACC89085-D39F-DC46-9B23-384CCF62305A}"/>
              </a:ext>
            </a:extLst>
          </p:cNvPr>
          <p:cNvPicPr>
            <a:picLocks noChangeAspect="1"/>
          </p:cNvPicPr>
          <p:nvPr/>
        </p:nvPicPr>
        <p:blipFill>
          <a:blip r:embed="rId2"/>
          <a:stretch>
            <a:fillRect/>
          </a:stretch>
        </p:blipFill>
        <p:spPr>
          <a:xfrm>
            <a:off x="8317933" y="1941214"/>
            <a:ext cx="3672717" cy="1311685"/>
          </a:xfrm>
          <a:prstGeom prst="rect">
            <a:avLst/>
          </a:prstGeom>
          <a:ln>
            <a:noFill/>
          </a:ln>
          <a:effectLst>
            <a:outerShdw blurRad="190500" algn="tl" rotWithShape="0">
              <a:srgbClr val="000000">
                <a:alpha val="70000"/>
              </a:srgbClr>
            </a:outerShdw>
          </a:effectLst>
        </p:spPr>
      </p:pic>
      <p:sp>
        <p:nvSpPr>
          <p:cNvPr id="5" name="TextBox 4">
            <a:extLst>
              <a:ext uri="{FF2B5EF4-FFF2-40B4-BE49-F238E27FC236}">
                <a16:creationId xmlns:a16="http://schemas.microsoft.com/office/drawing/2014/main" id="{B799E727-1BF7-929E-A342-E64FE738963D}"/>
              </a:ext>
            </a:extLst>
          </p:cNvPr>
          <p:cNvSpPr txBox="1"/>
          <p:nvPr/>
        </p:nvSpPr>
        <p:spPr>
          <a:xfrm>
            <a:off x="7763442" y="4120641"/>
            <a:ext cx="4337118" cy="1938992"/>
          </a:xfrm>
          <a:prstGeom prst="rect">
            <a:avLst/>
          </a:prstGeom>
          <a:noFill/>
        </p:spPr>
        <p:txBody>
          <a:bodyPr wrap="square">
            <a:spAutoFit/>
          </a:bodyPr>
          <a:lstStyle/>
          <a:p>
            <a:pPr marL="342900" indent="-342900">
              <a:buFont typeface="Wingdings" panose="05000000000000000000" pitchFamily="2" charset="2"/>
              <a:buChar char="v"/>
            </a:pPr>
            <a:r>
              <a:rPr lang="en-US" sz="2000" dirty="0">
                <a:solidFill>
                  <a:schemeClr val="accent5">
                    <a:lumMod val="50000"/>
                  </a:schemeClr>
                </a:solidFill>
                <a:latin typeface="+mj-lt"/>
              </a:rPr>
              <a:t>doesn't need to manage state.</a:t>
            </a:r>
          </a:p>
          <a:p>
            <a:pPr marL="342900" indent="-342900">
              <a:buFont typeface="Wingdings" panose="05000000000000000000" pitchFamily="2" charset="2"/>
              <a:buChar char="v"/>
            </a:pPr>
            <a:r>
              <a:rPr lang="en-US" sz="2000" dirty="0">
                <a:solidFill>
                  <a:schemeClr val="accent5">
                    <a:lumMod val="50000"/>
                  </a:schemeClr>
                </a:solidFill>
                <a:latin typeface="+mj-lt"/>
              </a:rPr>
              <a:t>doesn't need lifecycle methods (although this can now be handled with the </a:t>
            </a:r>
            <a:r>
              <a:rPr lang="en-US" sz="2000" dirty="0" err="1">
                <a:solidFill>
                  <a:schemeClr val="accent5">
                    <a:lumMod val="50000"/>
                  </a:schemeClr>
                </a:solidFill>
                <a:latin typeface="+mj-lt"/>
              </a:rPr>
              <a:t>useEffect</a:t>
            </a:r>
            <a:r>
              <a:rPr lang="en-US" sz="2000" dirty="0">
                <a:solidFill>
                  <a:schemeClr val="accent5">
                    <a:lumMod val="50000"/>
                  </a:schemeClr>
                </a:solidFill>
                <a:latin typeface="+mj-lt"/>
              </a:rPr>
              <a:t> Hook).</a:t>
            </a:r>
          </a:p>
          <a:p>
            <a:pPr marL="342900" indent="-342900">
              <a:buFont typeface="Wingdings" panose="05000000000000000000" pitchFamily="2" charset="2"/>
              <a:buChar char="v"/>
            </a:pPr>
            <a:r>
              <a:rPr lang="en-US" sz="2000" dirty="0">
                <a:solidFill>
                  <a:schemeClr val="accent5">
                    <a:lumMod val="50000"/>
                  </a:schemeClr>
                </a:solidFill>
                <a:latin typeface="+mj-lt"/>
              </a:rPr>
              <a:t>write less code and keep things simple.</a:t>
            </a:r>
          </a:p>
        </p:txBody>
      </p:sp>
      <p:grpSp>
        <p:nvGrpSpPr>
          <p:cNvPr id="6" name="Group 5">
            <a:extLst>
              <a:ext uri="{FF2B5EF4-FFF2-40B4-BE49-F238E27FC236}">
                <a16:creationId xmlns:a16="http://schemas.microsoft.com/office/drawing/2014/main" id="{26AA7304-2FA8-CCAC-0580-55B0685DA541}"/>
              </a:ext>
            </a:extLst>
          </p:cNvPr>
          <p:cNvGrpSpPr/>
          <p:nvPr/>
        </p:nvGrpSpPr>
        <p:grpSpPr>
          <a:xfrm>
            <a:off x="7231581" y="4390427"/>
            <a:ext cx="531861" cy="1115089"/>
            <a:chOff x="6592420" y="4722725"/>
            <a:chExt cx="531861" cy="1115089"/>
          </a:xfrm>
        </p:grpSpPr>
        <p:cxnSp>
          <p:nvCxnSpPr>
            <p:cNvPr id="7" name="Straight Arrow Connector 6">
              <a:extLst>
                <a:ext uri="{FF2B5EF4-FFF2-40B4-BE49-F238E27FC236}">
                  <a16:creationId xmlns:a16="http://schemas.microsoft.com/office/drawing/2014/main" id="{B04BD55D-F259-89AA-A1A7-95436FF40629}"/>
                </a:ext>
              </a:extLst>
            </p:cNvPr>
            <p:cNvCxnSpPr>
              <a:cxnSpLocks/>
            </p:cNvCxnSpPr>
            <p:nvPr/>
          </p:nvCxnSpPr>
          <p:spPr>
            <a:xfrm flipV="1">
              <a:off x="6611815" y="4722725"/>
              <a:ext cx="512466" cy="5526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C6309D9-F65F-8449-712D-0A4E5B9C4BEE}"/>
                </a:ext>
              </a:extLst>
            </p:cNvPr>
            <p:cNvCxnSpPr>
              <a:cxnSpLocks/>
            </p:cNvCxnSpPr>
            <p:nvPr/>
          </p:nvCxnSpPr>
          <p:spPr>
            <a:xfrm flipV="1">
              <a:off x="6592420" y="5050803"/>
              <a:ext cx="525396" cy="2245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DABA444-D951-1DFF-E250-213F14E60EBB}"/>
                </a:ext>
              </a:extLst>
            </p:cNvPr>
            <p:cNvCxnSpPr>
              <a:cxnSpLocks/>
            </p:cNvCxnSpPr>
            <p:nvPr/>
          </p:nvCxnSpPr>
          <p:spPr>
            <a:xfrm>
              <a:off x="6606012" y="5275664"/>
              <a:ext cx="497432" cy="5621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5198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CD529-725A-4EDE-CAB6-01833C2D3F36}"/>
              </a:ext>
            </a:extLst>
          </p:cNvPr>
          <p:cNvSpPr>
            <a:spLocks noGrp="1"/>
          </p:cNvSpPr>
          <p:nvPr>
            <p:ph type="title"/>
          </p:nvPr>
        </p:nvSpPr>
        <p:spPr/>
        <p:txBody>
          <a:bodyPr/>
          <a:lstStyle/>
          <a:p>
            <a:r>
              <a:rPr lang="en-US" dirty="0"/>
              <a:t>Effects in Function Components</a:t>
            </a:r>
          </a:p>
        </p:txBody>
      </p:sp>
      <p:sp>
        <p:nvSpPr>
          <p:cNvPr id="3" name="Text Placeholder 2">
            <a:extLst>
              <a:ext uri="{FF2B5EF4-FFF2-40B4-BE49-F238E27FC236}">
                <a16:creationId xmlns:a16="http://schemas.microsoft.com/office/drawing/2014/main" id="{ADA5871D-1426-22B1-1C2A-AD3D9B973C68}"/>
              </a:ext>
            </a:extLst>
          </p:cNvPr>
          <p:cNvSpPr>
            <a:spLocks noGrp="1"/>
          </p:cNvSpPr>
          <p:nvPr>
            <p:ph type="body" idx="1"/>
          </p:nvPr>
        </p:nvSpPr>
        <p:spPr/>
        <p:txBody>
          <a:bodyPr/>
          <a:lstStyle/>
          <a:p>
            <a:r>
              <a:rPr lang="en-US" dirty="0"/>
              <a:t>The Effect Hook can be seen as a replacement for </a:t>
            </a:r>
            <a:r>
              <a:rPr lang="en-US" dirty="0" err="1"/>
              <a:t>componentDidMount</a:t>
            </a:r>
            <a:r>
              <a:rPr lang="en-US" dirty="0"/>
              <a:t>, </a:t>
            </a:r>
            <a:r>
              <a:rPr lang="en-US" dirty="0" err="1"/>
              <a:t>componentDidUpdate</a:t>
            </a:r>
            <a:r>
              <a:rPr lang="en-US" dirty="0"/>
              <a:t>, and </a:t>
            </a:r>
            <a:r>
              <a:rPr lang="en-US" dirty="0" err="1"/>
              <a:t>componentWillUnmount</a:t>
            </a:r>
            <a:r>
              <a:rPr lang="en-US" dirty="0"/>
              <a:t> in class components, unified into a single API.</a:t>
            </a:r>
          </a:p>
          <a:p>
            <a:r>
              <a:rPr lang="en-US" dirty="0" err="1"/>
              <a:t>useEffect</a:t>
            </a:r>
            <a:r>
              <a:rPr lang="en-US" dirty="0"/>
              <a:t> is called after every render by default, including the initial render. It takes two arguments:</a:t>
            </a:r>
          </a:p>
          <a:p>
            <a:r>
              <a:rPr lang="en-US" dirty="0"/>
              <a:t>A function where you place your side effect logic.</a:t>
            </a:r>
          </a:p>
          <a:p>
            <a:r>
              <a:rPr lang="en-US" dirty="0"/>
              <a:t>An optional array of dependencies.</a:t>
            </a:r>
          </a:p>
        </p:txBody>
      </p:sp>
      <p:sp>
        <p:nvSpPr>
          <p:cNvPr id="4" name="Slide Number Placeholder 3">
            <a:extLst>
              <a:ext uri="{FF2B5EF4-FFF2-40B4-BE49-F238E27FC236}">
                <a16:creationId xmlns:a16="http://schemas.microsoft.com/office/drawing/2014/main" id="{30B6EBD3-812C-40E6-A83A-CB16A7DCD5E0}"/>
              </a:ext>
            </a:extLst>
          </p:cNvPr>
          <p:cNvSpPr>
            <a:spLocks noGrp="1"/>
          </p:cNvSpPr>
          <p:nvPr>
            <p:ph type="sldNum" idx="12"/>
          </p:nvPr>
        </p:nvSpPr>
        <p:spPr/>
        <p:txBody>
          <a:bodyPr/>
          <a:lstStyle/>
          <a:p>
            <a:fld id="{00000000-1234-1234-1234-123412341234}" type="slidenum">
              <a:rPr lang="en-US" smtClean="0"/>
              <a:pPr/>
              <a:t>13</a:t>
            </a:fld>
            <a:endParaRPr lang="en-US" dirty="0"/>
          </a:p>
        </p:txBody>
      </p:sp>
    </p:spTree>
    <p:extLst>
      <p:ext uri="{BB962C8B-B14F-4D97-AF65-F5344CB8AC3E}">
        <p14:creationId xmlns:p14="http://schemas.microsoft.com/office/powerpoint/2010/main" val="2869159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CC63B-43DC-ADF9-7B4B-B5780E5E153A}"/>
              </a:ext>
            </a:extLst>
          </p:cNvPr>
          <p:cNvSpPr>
            <a:spLocks noGrp="1"/>
          </p:cNvSpPr>
          <p:nvPr>
            <p:ph type="title"/>
          </p:nvPr>
        </p:nvSpPr>
        <p:spPr/>
        <p:txBody>
          <a:bodyPr/>
          <a:lstStyle/>
          <a:p>
            <a:r>
              <a:rPr lang="en-US" dirty="0"/>
              <a:t>Exporting and importing a component</a:t>
            </a:r>
          </a:p>
        </p:txBody>
      </p:sp>
      <p:sp>
        <p:nvSpPr>
          <p:cNvPr id="4" name="Slide Number Placeholder 3">
            <a:extLst>
              <a:ext uri="{FF2B5EF4-FFF2-40B4-BE49-F238E27FC236}">
                <a16:creationId xmlns:a16="http://schemas.microsoft.com/office/drawing/2014/main" id="{8CE1DE82-2DFB-678B-5F58-5E93D8E949B2}"/>
              </a:ext>
            </a:extLst>
          </p:cNvPr>
          <p:cNvSpPr>
            <a:spLocks noGrp="1"/>
          </p:cNvSpPr>
          <p:nvPr>
            <p:ph type="sldNum" idx="12"/>
          </p:nvPr>
        </p:nvSpPr>
        <p:spPr/>
        <p:txBody>
          <a:bodyPr/>
          <a:lstStyle/>
          <a:p>
            <a:fld id="{00000000-1234-1234-1234-123412341234}" type="slidenum">
              <a:rPr lang="en-US" smtClean="0"/>
              <a:pPr/>
              <a:t>14</a:t>
            </a:fld>
            <a:endParaRPr lang="en-US" dirty="0"/>
          </a:p>
        </p:txBody>
      </p:sp>
      <p:pic>
        <p:nvPicPr>
          <p:cNvPr id="6" name="Picture 5">
            <a:extLst>
              <a:ext uri="{FF2B5EF4-FFF2-40B4-BE49-F238E27FC236}">
                <a16:creationId xmlns:a16="http://schemas.microsoft.com/office/drawing/2014/main" id="{C432F60D-ADD1-7482-E695-A1695C65889E}"/>
              </a:ext>
            </a:extLst>
          </p:cNvPr>
          <p:cNvPicPr>
            <a:picLocks noChangeAspect="1"/>
          </p:cNvPicPr>
          <p:nvPr/>
        </p:nvPicPr>
        <p:blipFill>
          <a:blip r:embed="rId2"/>
          <a:stretch>
            <a:fillRect/>
          </a:stretch>
        </p:blipFill>
        <p:spPr>
          <a:xfrm>
            <a:off x="625907" y="2225928"/>
            <a:ext cx="4077269" cy="1114581"/>
          </a:xfrm>
          <a:prstGeom prst="rect">
            <a:avLst/>
          </a:prstGeom>
        </p:spPr>
      </p:pic>
      <p:pic>
        <p:nvPicPr>
          <p:cNvPr id="8" name="Picture 7">
            <a:extLst>
              <a:ext uri="{FF2B5EF4-FFF2-40B4-BE49-F238E27FC236}">
                <a16:creationId xmlns:a16="http://schemas.microsoft.com/office/drawing/2014/main" id="{2DCC50C2-F886-4AAA-3D25-0FA6459E439D}"/>
              </a:ext>
            </a:extLst>
          </p:cNvPr>
          <p:cNvPicPr>
            <a:picLocks noChangeAspect="1"/>
          </p:cNvPicPr>
          <p:nvPr/>
        </p:nvPicPr>
        <p:blipFill>
          <a:blip r:embed="rId3"/>
          <a:stretch>
            <a:fillRect/>
          </a:stretch>
        </p:blipFill>
        <p:spPr>
          <a:xfrm>
            <a:off x="6248825" y="2908855"/>
            <a:ext cx="4925112" cy="1590897"/>
          </a:xfrm>
          <a:prstGeom prst="rect">
            <a:avLst/>
          </a:prstGeom>
        </p:spPr>
      </p:pic>
      <p:cxnSp>
        <p:nvCxnSpPr>
          <p:cNvPr id="10" name="Connector: Elbow 9">
            <a:extLst>
              <a:ext uri="{FF2B5EF4-FFF2-40B4-BE49-F238E27FC236}">
                <a16:creationId xmlns:a16="http://schemas.microsoft.com/office/drawing/2014/main" id="{C155DB88-7F27-30A8-AE79-C458F52AAF58}"/>
              </a:ext>
            </a:extLst>
          </p:cNvPr>
          <p:cNvCxnSpPr/>
          <p:nvPr/>
        </p:nvCxnSpPr>
        <p:spPr>
          <a:xfrm>
            <a:off x="4703176" y="2340077"/>
            <a:ext cx="1392824" cy="786581"/>
          </a:xfrm>
          <a:prstGeom prst="bentConnector3">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24061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01E1C-941A-4A81-3777-E575AC80D6A8}"/>
              </a:ext>
            </a:extLst>
          </p:cNvPr>
          <p:cNvSpPr>
            <a:spLocks noGrp="1"/>
          </p:cNvSpPr>
          <p:nvPr>
            <p:ph type="title"/>
          </p:nvPr>
        </p:nvSpPr>
        <p:spPr/>
        <p:txBody>
          <a:bodyPr/>
          <a:lstStyle/>
          <a:p>
            <a:r>
              <a:rPr lang="en-US" dirty="0"/>
              <a:t>Component Conventions</a:t>
            </a:r>
          </a:p>
        </p:txBody>
      </p:sp>
      <p:sp>
        <p:nvSpPr>
          <p:cNvPr id="3" name="Text Placeholder 2">
            <a:extLst>
              <a:ext uri="{FF2B5EF4-FFF2-40B4-BE49-F238E27FC236}">
                <a16:creationId xmlns:a16="http://schemas.microsoft.com/office/drawing/2014/main" id="{F44E1BFF-B9D7-7867-7B73-BBB94B52EE7B}"/>
              </a:ext>
            </a:extLst>
          </p:cNvPr>
          <p:cNvSpPr>
            <a:spLocks noGrp="1"/>
          </p:cNvSpPr>
          <p:nvPr>
            <p:ph type="body" idx="1"/>
          </p:nvPr>
        </p:nvSpPr>
        <p:spPr/>
        <p:txBody>
          <a:bodyPr/>
          <a:lstStyle/>
          <a:p>
            <a:pPr marL="344488" lvl="0" indent="-344488" algn="l" rtl="0">
              <a:lnSpc>
                <a:spcPct val="130000"/>
              </a:lnSpc>
              <a:spcBef>
                <a:spcPts val="0"/>
              </a:spcBef>
              <a:spcAft>
                <a:spcPts val="0"/>
              </a:spcAft>
              <a:buClr>
                <a:srgbClr val="892912"/>
              </a:buClr>
              <a:buSzPts val="1680"/>
              <a:buFont typeface="Merriweather Sans"/>
              <a:buChar char="◆"/>
            </a:pPr>
            <a:r>
              <a:rPr lang="en-US" dirty="0"/>
              <a:t>User-defined component names must always start with a capital letter</a:t>
            </a:r>
          </a:p>
          <a:p>
            <a:pPr marL="801687" lvl="1" indent="-457200" algn="l" rtl="0">
              <a:lnSpc>
                <a:spcPct val="130000"/>
              </a:lnSpc>
              <a:spcBef>
                <a:spcPts val="500"/>
              </a:spcBef>
              <a:spcAft>
                <a:spcPts val="0"/>
              </a:spcAft>
              <a:buSzPts val="1920"/>
              <a:buFont typeface="Arial" panose="020B0604020202020204" pitchFamily="34" charset="0"/>
              <a:buChar char="•"/>
            </a:pPr>
            <a:r>
              <a:rPr lang="en-US" dirty="0"/>
              <a:t>These compile to </a:t>
            </a:r>
            <a:r>
              <a:rPr lang="en-US" dirty="0" err="1"/>
              <a:t>React.createElement</a:t>
            </a:r>
            <a:r>
              <a:rPr lang="en-US" dirty="0"/>
              <a:t>(. . .)</a:t>
            </a:r>
          </a:p>
          <a:p>
            <a:pPr marL="801687" lvl="1" indent="-457200" algn="l" rtl="0">
              <a:lnSpc>
                <a:spcPct val="130000"/>
              </a:lnSpc>
              <a:spcBef>
                <a:spcPts val="500"/>
              </a:spcBef>
              <a:spcAft>
                <a:spcPts val="0"/>
              </a:spcAft>
              <a:buSzPts val="1920"/>
              <a:buFont typeface="Arial" panose="020B0604020202020204" pitchFamily="34" charset="0"/>
              <a:buChar char="•"/>
            </a:pPr>
            <a:r>
              <a:rPr lang="en-US" dirty="0" err="1"/>
              <a:t>HeaderComponent</a:t>
            </a:r>
            <a:r>
              <a:rPr lang="en-US" dirty="0"/>
              <a:t>, </a:t>
            </a:r>
            <a:r>
              <a:rPr lang="en-US" dirty="0" err="1"/>
              <a:t>FooterComponent</a:t>
            </a:r>
            <a:r>
              <a:rPr lang="en-US" dirty="0"/>
              <a:t> ….)</a:t>
            </a:r>
          </a:p>
          <a:p>
            <a:pPr marL="344488" lvl="0" indent="-344488" algn="l" rtl="0">
              <a:lnSpc>
                <a:spcPct val="130000"/>
              </a:lnSpc>
              <a:spcBef>
                <a:spcPts val="1000"/>
              </a:spcBef>
              <a:spcAft>
                <a:spcPts val="0"/>
              </a:spcAft>
              <a:buClr>
                <a:srgbClr val="892912"/>
              </a:buClr>
              <a:buSzPts val="1680"/>
              <a:buFont typeface="Merriweather Sans"/>
              <a:buChar char="◆"/>
            </a:pPr>
            <a:r>
              <a:rPr lang="en-US" dirty="0"/>
              <a:t>Tags starting with lowercase letters are treated as DOM tags</a:t>
            </a:r>
          </a:p>
          <a:p>
            <a:pPr marL="801687" lvl="1" indent="-457200" algn="l" rtl="0">
              <a:lnSpc>
                <a:spcPct val="130000"/>
              </a:lnSpc>
              <a:spcBef>
                <a:spcPts val="500"/>
              </a:spcBef>
              <a:spcAft>
                <a:spcPts val="0"/>
              </a:spcAft>
              <a:buSzPts val="1920"/>
              <a:buFont typeface="Arial" panose="020B0604020202020204" pitchFamily="34" charset="0"/>
              <a:buChar char="•"/>
            </a:pPr>
            <a:r>
              <a:rPr lang="en-US" dirty="0"/>
              <a:t>Built-in components</a:t>
            </a:r>
          </a:p>
          <a:p>
            <a:endParaRPr lang="en-US" dirty="0"/>
          </a:p>
          <a:p>
            <a:endParaRPr lang="en-US" dirty="0"/>
          </a:p>
        </p:txBody>
      </p:sp>
      <p:sp>
        <p:nvSpPr>
          <p:cNvPr id="4" name="Slide Number Placeholder 3">
            <a:extLst>
              <a:ext uri="{FF2B5EF4-FFF2-40B4-BE49-F238E27FC236}">
                <a16:creationId xmlns:a16="http://schemas.microsoft.com/office/drawing/2014/main" id="{E9AC3971-A131-CA37-C55C-83653EBF4821}"/>
              </a:ext>
            </a:extLst>
          </p:cNvPr>
          <p:cNvSpPr>
            <a:spLocks noGrp="1"/>
          </p:cNvSpPr>
          <p:nvPr>
            <p:ph type="sldNum" idx="12"/>
          </p:nvPr>
        </p:nvSpPr>
        <p:spPr/>
        <p:txBody>
          <a:bodyPr/>
          <a:lstStyle/>
          <a:p>
            <a:fld id="{00000000-1234-1234-1234-123412341234}" type="slidenum">
              <a:rPr lang="en-US" smtClean="0"/>
              <a:pPr/>
              <a:t>15</a:t>
            </a:fld>
            <a:endParaRPr lang="en-US" dirty="0"/>
          </a:p>
        </p:txBody>
      </p:sp>
    </p:spTree>
    <p:extLst>
      <p:ext uri="{BB962C8B-B14F-4D97-AF65-F5344CB8AC3E}">
        <p14:creationId xmlns:p14="http://schemas.microsoft.com/office/powerpoint/2010/main" val="3596879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65F13-4A2A-60F9-3EE2-E06AE4A95CFD}"/>
              </a:ext>
            </a:extLst>
          </p:cNvPr>
          <p:cNvSpPr>
            <a:spLocks noGrp="1"/>
          </p:cNvSpPr>
          <p:nvPr>
            <p:ph type="title"/>
          </p:nvPr>
        </p:nvSpPr>
        <p:spPr/>
        <p:txBody>
          <a:bodyPr/>
          <a:lstStyle/>
          <a:p>
            <a:r>
              <a:rPr lang="en-US" dirty="0"/>
              <a:t>Higher-Order Components</a:t>
            </a:r>
          </a:p>
        </p:txBody>
      </p:sp>
      <p:sp>
        <p:nvSpPr>
          <p:cNvPr id="3" name="Text Placeholder 2">
            <a:extLst>
              <a:ext uri="{FF2B5EF4-FFF2-40B4-BE49-F238E27FC236}">
                <a16:creationId xmlns:a16="http://schemas.microsoft.com/office/drawing/2014/main" id="{96919365-99ED-38A0-68B0-DF6C75234E51}"/>
              </a:ext>
            </a:extLst>
          </p:cNvPr>
          <p:cNvSpPr>
            <a:spLocks noGrp="1"/>
          </p:cNvSpPr>
          <p:nvPr>
            <p:ph type="body" idx="1"/>
          </p:nvPr>
        </p:nvSpPr>
        <p:spPr/>
        <p:txBody>
          <a:bodyPr/>
          <a:lstStyle/>
          <a:p>
            <a:pPr algn="just"/>
            <a:r>
              <a:rPr lang="en-US" dirty="0"/>
              <a:t>A Higher-Order Component (HOC) allow reuse component logic, which can help keep your components small and focused. </a:t>
            </a:r>
          </a:p>
          <a:p>
            <a:pPr algn="just"/>
            <a:r>
              <a:rPr lang="en-US" dirty="0"/>
              <a:t>They can be used to modify props, change rendering, abstract state, and wrap components for context or theme.</a:t>
            </a:r>
          </a:p>
          <a:p>
            <a:endParaRPr lang="en-US" dirty="0"/>
          </a:p>
        </p:txBody>
      </p:sp>
      <p:sp>
        <p:nvSpPr>
          <p:cNvPr id="4" name="Slide Number Placeholder 3">
            <a:extLst>
              <a:ext uri="{FF2B5EF4-FFF2-40B4-BE49-F238E27FC236}">
                <a16:creationId xmlns:a16="http://schemas.microsoft.com/office/drawing/2014/main" id="{C3CAB32A-3CD3-E6E8-89A5-A17BE41B8D89}"/>
              </a:ext>
            </a:extLst>
          </p:cNvPr>
          <p:cNvSpPr>
            <a:spLocks noGrp="1"/>
          </p:cNvSpPr>
          <p:nvPr>
            <p:ph type="sldNum" idx="12"/>
          </p:nvPr>
        </p:nvSpPr>
        <p:spPr/>
        <p:txBody>
          <a:bodyPr/>
          <a:lstStyle/>
          <a:p>
            <a:fld id="{00000000-1234-1234-1234-123412341234}" type="slidenum">
              <a:rPr lang="en-US" smtClean="0"/>
              <a:pPr/>
              <a:t>16</a:t>
            </a:fld>
            <a:endParaRPr lang="en-US" dirty="0"/>
          </a:p>
        </p:txBody>
      </p:sp>
    </p:spTree>
    <p:extLst>
      <p:ext uri="{BB962C8B-B14F-4D97-AF65-F5344CB8AC3E}">
        <p14:creationId xmlns:p14="http://schemas.microsoft.com/office/powerpoint/2010/main" val="1569318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CFA2B-6ACB-00E9-651E-4ED7554D4173}"/>
              </a:ext>
            </a:extLst>
          </p:cNvPr>
          <p:cNvSpPr>
            <a:spLocks noGrp="1"/>
          </p:cNvSpPr>
          <p:nvPr>
            <p:ph type="title"/>
          </p:nvPr>
        </p:nvSpPr>
        <p:spPr/>
        <p:txBody>
          <a:bodyPr/>
          <a:lstStyle/>
          <a:p>
            <a:r>
              <a:rPr lang="en-US" dirty="0"/>
              <a:t>Higher-Order Components – cont’d</a:t>
            </a:r>
          </a:p>
        </p:txBody>
      </p:sp>
      <p:sp>
        <p:nvSpPr>
          <p:cNvPr id="4" name="Slide Number Placeholder 3">
            <a:extLst>
              <a:ext uri="{FF2B5EF4-FFF2-40B4-BE49-F238E27FC236}">
                <a16:creationId xmlns:a16="http://schemas.microsoft.com/office/drawing/2014/main" id="{3305B168-626A-2319-DB2D-F1086135EE61}"/>
              </a:ext>
            </a:extLst>
          </p:cNvPr>
          <p:cNvSpPr>
            <a:spLocks noGrp="1"/>
          </p:cNvSpPr>
          <p:nvPr>
            <p:ph type="sldNum" idx="12"/>
          </p:nvPr>
        </p:nvSpPr>
        <p:spPr/>
        <p:txBody>
          <a:bodyPr/>
          <a:lstStyle/>
          <a:p>
            <a:fld id="{00000000-1234-1234-1234-123412341234}" type="slidenum">
              <a:rPr lang="en-US" smtClean="0"/>
              <a:pPr/>
              <a:t>17</a:t>
            </a:fld>
            <a:endParaRPr lang="en-US" dirty="0"/>
          </a:p>
        </p:txBody>
      </p:sp>
      <p:sp>
        <p:nvSpPr>
          <p:cNvPr id="6" name="TextBox 5">
            <a:extLst>
              <a:ext uri="{FF2B5EF4-FFF2-40B4-BE49-F238E27FC236}">
                <a16:creationId xmlns:a16="http://schemas.microsoft.com/office/drawing/2014/main" id="{1195511A-39CE-32B6-B0BC-19A7E40994E9}"/>
              </a:ext>
            </a:extLst>
          </p:cNvPr>
          <p:cNvSpPr txBox="1"/>
          <p:nvPr/>
        </p:nvSpPr>
        <p:spPr>
          <a:xfrm>
            <a:off x="838200" y="1535811"/>
            <a:ext cx="9411118" cy="3108543"/>
          </a:xfrm>
          <a:prstGeom prst="rect">
            <a:avLst/>
          </a:prstGeom>
          <a:solidFill>
            <a:schemeClr val="tx1"/>
          </a:solidFill>
        </p:spPr>
        <p:txBody>
          <a:bodyPr wrap="square">
            <a:spAutoFit/>
          </a:bodyPr>
          <a:lstStyle/>
          <a:p>
            <a:r>
              <a:rPr lang="en-US" b="0" dirty="0">
                <a:solidFill>
                  <a:srgbClr val="6A9955"/>
                </a:solidFill>
                <a:effectLst/>
                <a:latin typeface="Consolas" panose="020B0609020204030204" pitchFamily="49" charset="0"/>
              </a:rPr>
              <a:t>// Higher Order Component</a:t>
            </a:r>
            <a:endParaRPr lang="en-US" b="0" dirty="0">
              <a:solidFill>
                <a:srgbClr val="CCCCCC"/>
              </a:solidFill>
              <a:effectLst/>
              <a:latin typeface="Consolas" panose="020B0609020204030204" pitchFamily="49" charset="0"/>
            </a:endParaRPr>
          </a:p>
          <a:p>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withExtraProp</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WrappedComponent</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EnhancedComponent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WrappedComponent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569CD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extraProp</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"I am an extra prop!"</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Regular Component</a:t>
            </a:r>
            <a:endParaRPr lang="en-US" b="0" dirty="0">
              <a:solidFill>
                <a:srgbClr val="CCCCCC"/>
              </a:solidFill>
              <a:effectLst/>
              <a:latin typeface="Consolas" panose="020B0609020204030204" pitchFamily="49" charset="0"/>
            </a:endParaRPr>
          </a:p>
          <a:p>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MyComponent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props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extraProp</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Enhanced Component with HOC</a:t>
            </a:r>
            <a:endParaRPr lang="en-US" b="0" dirty="0">
              <a:solidFill>
                <a:srgbClr val="CCCCCC"/>
              </a:solidFill>
              <a:effectLst/>
              <a:latin typeface="Consolas" panose="020B0609020204030204" pitchFamily="49" charset="0"/>
            </a:endParaRPr>
          </a:p>
          <a:p>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EnhancedComponent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withExtraProp</a:t>
            </a: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MyComponent</a:t>
            </a:r>
            <a:r>
              <a:rPr lang="en-US" b="0" dirty="0">
                <a:solidFill>
                  <a:srgbClr val="CCCCCC"/>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7505DFB-CD86-3BFE-E076-AC7890CB9C09}"/>
              </a:ext>
            </a:extLst>
          </p:cNvPr>
          <p:cNvSpPr txBox="1"/>
          <p:nvPr/>
        </p:nvSpPr>
        <p:spPr>
          <a:xfrm>
            <a:off x="838200" y="4940529"/>
            <a:ext cx="9411119" cy="523220"/>
          </a:xfrm>
          <a:prstGeom prst="rect">
            <a:avLst/>
          </a:prstGeom>
          <a:solidFill>
            <a:schemeClr val="tx1"/>
          </a:solidFill>
        </p:spPr>
        <p:txBody>
          <a:bodyPr wrap="square">
            <a:spAutoFit/>
          </a:bodyPr>
          <a:lstStyle/>
          <a:p>
            <a:r>
              <a:rPr lang="en-US" b="0" dirty="0">
                <a:solidFill>
                  <a:srgbClr val="6A9955"/>
                </a:solidFill>
                <a:effectLst/>
                <a:latin typeface="Consolas" panose="020B0609020204030204" pitchFamily="49" charset="0"/>
              </a:rPr>
              <a:t>// Usage</a:t>
            </a:r>
            <a:endParaRPr lang="en-US" b="0" dirty="0">
              <a:solidFill>
                <a:srgbClr val="CCCCCC"/>
              </a:solidFill>
              <a:effectLst/>
              <a:latin typeface="Consolas" panose="020B0609020204030204" pitchFamily="49" charset="0"/>
            </a:endParaRPr>
          </a:p>
          <a:p>
            <a:r>
              <a:rPr lang="en-US" b="0" dirty="0">
                <a:solidFill>
                  <a:srgbClr val="808080"/>
                </a:solidFill>
                <a:effectLst/>
                <a:latin typeface="Consolas" panose="020B0609020204030204" pitchFamily="49" charset="0"/>
              </a:rPr>
              <a:t>&lt;</a:t>
            </a:r>
            <a:r>
              <a:rPr lang="en-US" b="0" dirty="0" err="1">
                <a:solidFill>
                  <a:srgbClr val="4EC9B0"/>
                </a:solidFill>
                <a:effectLst/>
                <a:latin typeface="Consolas" panose="020B0609020204030204" pitchFamily="49" charset="0"/>
              </a:rPr>
              <a:t>EnhancedComponent</a:t>
            </a: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r>
              <a:rPr lang="en-US" b="0" dirty="0">
                <a:solidFill>
                  <a:srgbClr val="6A9955"/>
                </a:solidFill>
                <a:effectLst/>
                <a:latin typeface="Consolas" panose="020B0609020204030204" pitchFamily="49" charset="0"/>
              </a:rPr>
              <a:t>// Will render: &lt;div&gt;I am an extra prop!&lt;/div&gt;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86639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22089-01DB-C112-6821-74A176185282}"/>
              </a:ext>
            </a:extLst>
          </p:cNvPr>
          <p:cNvSpPr>
            <a:spLocks noGrp="1"/>
          </p:cNvSpPr>
          <p:nvPr>
            <p:ph type="title"/>
          </p:nvPr>
        </p:nvSpPr>
        <p:spPr/>
        <p:txBody>
          <a:bodyPr/>
          <a:lstStyle/>
          <a:p>
            <a:r>
              <a:rPr lang="en-US" dirty="0"/>
              <a:t>Component Composition</a:t>
            </a:r>
          </a:p>
        </p:txBody>
      </p:sp>
      <p:sp>
        <p:nvSpPr>
          <p:cNvPr id="3" name="Text Placeholder 2">
            <a:extLst>
              <a:ext uri="{FF2B5EF4-FFF2-40B4-BE49-F238E27FC236}">
                <a16:creationId xmlns:a16="http://schemas.microsoft.com/office/drawing/2014/main" id="{7628791A-12ED-6149-C846-4275AC7007F0}"/>
              </a:ext>
            </a:extLst>
          </p:cNvPr>
          <p:cNvSpPr>
            <a:spLocks noGrp="1"/>
          </p:cNvSpPr>
          <p:nvPr>
            <p:ph type="body" idx="1"/>
          </p:nvPr>
        </p:nvSpPr>
        <p:spPr/>
        <p:txBody>
          <a:bodyPr/>
          <a:lstStyle/>
          <a:p>
            <a:pPr algn="just"/>
            <a:r>
              <a:rPr lang="en-US" dirty="0"/>
              <a:t>It is a natural pattern of assembling complex UIs by piecing together components like Lego blocks. </a:t>
            </a:r>
          </a:p>
          <a:p>
            <a:pPr algn="just"/>
            <a:r>
              <a:rPr lang="en-US" dirty="0"/>
              <a:t>It involves building small and reusable components and combining them to create more complex user interfaces.</a:t>
            </a:r>
          </a:p>
          <a:p>
            <a:pPr algn="just"/>
            <a:r>
              <a:rPr lang="en-US" dirty="0"/>
              <a:t>Benefits of Component Composition: Reusability, Separation of Concerns, Testability.</a:t>
            </a:r>
          </a:p>
          <a:p>
            <a:endParaRPr lang="en-US" dirty="0"/>
          </a:p>
        </p:txBody>
      </p:sp>
      <p:sp>
        <p:nvSpPr>
          <p:cNvPr id="4" name="Slide Number Placeholder 3">
            <a:extLst>
              <a:ext uri="{FF2B5EF4-FFF2-40B4-BE49-F238E27FC236}">
                <a16:creationId xmlns:a16="http://schemas.microsoft.com/office/drawing/2014/main" id="{94DB4BAE-787A-E436-DC74-586B5CA5DB1E}"/>
              </a:ext>
            </a:extLst>
          </p:cNvPr>
          <p:cNvSpPr>
            <a:spLocks noGrp="1"/>
          </p:cNvSpPr>
          <p:nvPr>
            <p:ph type="sldNum" idx="12"/>
          </p:nvPr>
        </p:nvSpPr>
        <p:spPr/>
        <p:txBody>
          <a:bodyPr/>
          <a:lstStyle/>
          <a:p>
            <a:fld id="{00000000-1234-1234-1234-123412341234}" type="slidenum">
              <a:rPr lang="en-US" smtClean="0"/>
              <a:pPr/>
              <a:t>18</a:t>
            </a:fld>
            <a:endParaRPr lang="en-US" dirty="0"/>
          </a:p>
        </p:txBody>
      </p:sp>
    </p:spTree>
    <p:extLst>
      <p:ext uri="{BB962C8B-B14F-4D97-AF65-F5344CB8AC3E}">
        <p14:creationId xmlns:p14="http://schemas.microsoft.com/office/powerpoint/2010/main" val="1093945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165D-68BA-F13C-2909-1AE87BCA82D4}"/>
              </a:ext>
            </a:extLst>
          </p:cNvPr>
          <p:cNvSpPr>
            <a:spLocks noGrp="1"/>
          </p:cNvSpPr>
          <p:nvPr>
            <p:ph type="title"/>
          </p:nvPr>
        </p:nvSpPr>
        <p:spPr/>
        <p:txBody>
          <a:bodyPr/>
          <a:lstStyle/>
          <a:p>
            <a:r>
              <a:rPr lang="en-US" dirty="0"/>
              <a:t>Component Composition – cont’d</a:t>
            </a:r>
          </a:p>
        </p:txBody>
      </p:sp>
      <p:sp>
        <p:nvSpPr>
          <p:cNvPr id="4" name="Slide Number Placeholder 3">
            <a:extLst>
              <a:ext uri="{FF2B5EF4-FFF2-40B4-BE49-F238E27FC236}">
                <a16:creationId xmlns:a16="http://schemas.microsoft.com/office/drawing/2014/main" id="{64BCDA2B-E73C-1A9B-64DD-1D71089340C4}"/>
              </a:ext>
            </a:extLst>
          </p:cNvPr>
          <p:cNvSpPr>
            <a:spLocks noGrp="1"/>
          </p:cNvSpPr>
          <p:nvPr>
            <p:ph type="sldNum" idx="12"/>
          </p:nvPr>
        </p:nvSpPr>
        <p:spPr/>
        <p:txBody>
          <a:bodyPr/>
          <a:lstStyle/>
          <a:p>
            <a:fld id="{00000000-1234-1234-1234-123412341234}" type="slidenum">
              <a:rPr lang="en-US" smtClean="0"/>
              <a:pPr/>
              <a:t>19</a:t>
            </a:fld>
            <a:endParaRPr lang="en-US" dirty="0"/>
          </a:p>
        </p:txBody>
      </p:sp>
      <p:sp>
        <p:nvSpPr>
          <p:cNvPr id="6" name="TextBox 5">
            <a:extLst>
              <a:ext uri="{FF2B5EF4-FFF2-40B4-BE49-F238E27FC236}">
                <a16:creationId xmlns:a16="http://schemas.microsoft.com/office/drawing/2014/main" id="{24666347-4EDF-9F9C-E39F-8697B2F18007}"/>
              </a:ext>
            </a:extLst>
          </p:cNvPr>
          <p:cNvSpPr txBox="1"/>
          <p:nvPr/>
        </p:nvSpPr>
        <p:spPr>
          <a:xfrm>
            <a:off x="1435971" y="2044511"/>
            <a:ext cx="3430669" cy="2123658"/>
          </a:xfrm>
          <a:prstGeom prst="rect">
            <a:avLst/>
          </a:prstGeom>
          <a:solidFill>
            <a:schemeClr val="tx1"/>
          </a:solidFill>
        </p:spPr>
        <p:txBody>
          <a:bodyPr wrap="square">
            <a:spAutoFit/>
          </a:bodyPr>
          <a:lstStyle/>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App</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div</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4EC9B0"/>
                </a:solidFill>
                <a:effectLst/>
                <a:latin typeface="Consolas" panose="020B0609020204030204" pitchFamily="49" charset="0"/>
              </a:rPr>
              <a:t>Header</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err="1">
                <a:solidFill>
                  <a:srgbClr val="4EC9B0"/>
                </a:solidFill>
                <a:effectLst/>
                <a:latin typeface="Consolas" panose="020B0609020204030204" pitchFamily="49" charset="0"/>
              </a:rPr>
              <a:t>MainContent</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4EC9B0"/>
                </a:solidFill>
                <a:effectLst/>
                <a:latin typeface="Consolas" panose="020B0609020204030204" pitchFamily="49" charset="0"/>
              </a:rPr>
              <a:t>Footer</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div</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7D04D4FF-655E-E936-3B87-3E54F501E0CA}"/>
              </a:ext>
            </a:extLst>
          </p:cNvPr>
          <p:cNvSpPr txBox="1"/>
          <p:nvPr/>
        </p:nvSpPr>
        <p:spPr>
          <a:xfrm>
            <a:off x="5225813" y="1743360"/>
            <a:ext cx="5117067" cy="3970318"/>
          </a:xfrm>
          <a:prstGeom prst="rect">
            <a:avLst/>
          </a:prstGeom>
          <a:solidFill>
            <a:schemeClr val="tx1"/>
          </a:solidFill>
        </p:spPr>
        <p:txBody>
          <a:bodyPr wrap="square">
            <a:spAutoFit/>
          </a:bodyPr>
          <a:lstStyle/>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Header</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h1</a:t>
            </a:r>
            <a:r>
              <a:rPr lang="en-US" sz="1200" b="0" dirty="0">
                <a:solidFill>
                  <a:srgbClr val="808080"/>
                </a:solidFill>
                <a:effectLst/>
                <a:latin typeface="Consolas" panose="020B0609020204030204" pitchFamily="49" charset="0"/>
              </a:rPr>
              <a:t>&gt;</a:t>
            </a:r>
            <a:r>
              <a:rPr lang="en-US" sz="1200" b="0" dirty="0">
                <a:solidFill>
                  <a:srgbClr val="CCCCCC"/>
                </a:solidFill>
                <a:effectLst/>
                <a:latin typeface="Consolas" panose="020B0609020204030204" pitchFamily="49" charset="0"/>
              </a:rPr>
              <a:t>Welcome to </a:t>
            </a:r>
            <a:r>
              <a:rPr lang="en-US" sz="1200" b="0" dirty="0" err="1">
                <a:solidFill>
                  <a:srgbClr val="CCCCCC"/>
                </a:solidFill>
                <a:effectLst/>
                <a:latin typeface="Consolas" panose="020B0609020204030204" pitchFamily="49" charset="0"/>
              </a:rPr>
              <a:t>GoF</a:t>
            </a:r>
            <a:r>
              <a:rPr lang="en-US" sz="1200" b="0" dirty="0">
                <a:solidFill>
                  <a:srgbClr val="CCCCCC"/>
                </a:solidFill>
                <a:effectLst/>
                <a:latin typeface="Consolas" panose="020B0609020204030204" pitchFamily="49" charset="0"/>
              </a:rPr>
              <a:t> domain!</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h1</a:t>
            </a:r>
            <a:r>
              <a:rPr lang="en-US" sz="1200" b="0" dirty="0">
                <a:solidFill>
                  <a:srgbClr val="808080"/>
                </a:solidFill>
                <a:effectLst/>
                <a:latin typeface="Consolas" panose="020B0609020204030204" pitchFamily="49" charset="0"/>
              </a:rPr>
              <a:t>&gt;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MainContent</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div</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dirty="0">
                <a:solidFill>
                  <a:srgbClr val="4EC9B0"/>
                </a:solidFill>
                <a:latin typeface="Consolas" panose="020B0609020204030204" pitchFamily="49" charset="0"/>
              </a:rPr>
              <a:t>Member</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dirty="0">
                <a:solidFill>
                  <a:srgbClr val="4EC9B0"/>
                </a:solidFill>
                <a:latin typeface="Consolas" panose="020B0609020204030204" pitchFamily="49" charset="0"/>
              </a:rPr>
              <a:t>Member</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div</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Member</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p</a:t>
            </a:r>
            <a:r>
              <a:rPr lang="en-US" sz="1200" b="0" dirty="0">
                <a:solidFill>
                  <a:srgbClr val="808080"/>
                </a:solidFill>
                <a:effectLst/>
                <a:latin typeface="Consolas" panose="020B0609020204030204" pitchFamily="49" charset="0"/>
              </a:rPr>
              <a:t>&gt;</a:t>
            </a:r>
            <a:r>
              <a:rPr lang="en-US" sz="1200" b="0" dirty="0">
                <a:solidFill>
                  <a:srgbClr val="CCCCCC"/>
                </a:solidFill>
                <a:effectLst/>
                <a:latin typeface="Consolas" panose="020B0609020204030204" pitchFamily="49" charset="0"/>
              </a:rPr>
              <a:t>This is a friend.</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p</a:t>
            </a:r>
            <a:r>
              <a:rPr lang="en-US" sz="1200" b="0" dirty="0">
                <a:solidFill>
                  <a:srgbClr val="808080"/>
                </a:solidFill>
                <a:effectLst/>
                <a:latin typeface="Consolas" panose="020B0609020204030204" pitchFamily="49" charset="0"/>
              </a:rPr>
              <a:t>&gt;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Footer</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h3</a:t>
            </a:r>
            <a:r>
              <a:rPr lang="en-US" sz="1200" b="0" dirty="0">
                <a:solidFill>
                  <a:srgbClr val="808080"/>
                </a:solidFill>
                <a:effectLst/>
                <a:latin typeface="Consolas" panose="020B0609020204030204" pitchFamily="49" charset="0"/>
              </a:rPr>
              <a:t>&gt;</a:t>
            </a:r>
            <a:r>
              <a:rPr lang="en-US" sz="1200" b="0" dirty="0">
                <a:solidFill>
                  <a:srgbClr val="CCCCCC"/>
                </a:solidFill>
                <a:effectLst/>
                <a:latin typeface="Consolas" panose="020B0609020204030204" pitchFamily="49" charset="0"/>
              </a:rPr>
              <a:t>Thanks for visiting!</a:t>
            </a:r>
            <a:r>
              <a:rPr lang="en-US" sz="1200" b="0" dirty="0">
                <a:solidFill>
                  <a:srgbClr val="808080"/>
                </a:solidFill>
                <a:effectLst/>
                <a:latin typeface="Consolas" panose="020B0609020204030204" pitchFamily="49" charset="0"/>
              </a:rPr>
              <a:t>&lt;/</a:t>
            </a:r>
            <a:r>
              <a:rPr lang="en-US" sz="1200" b="0" dirty="0">
                <a:solidFill>
                  <a:srgbClr val="569CD6"/>
                </a:solidFill>
                <a:effectLst/>
                <a:latin typeface="Consolas" panose="020B0609020204030204" pitchFamily="49" charset="0"/>
              </a:rPr>
              <a:t>h3</a:t>
            </a:r>
            <a:r>
              <a:rPr lang="en-US" sz="1200" b="0" dirty="0">
                <a:solidFill>
                  <a:srgbClr val="808080"/>
                </a:solidFill>
                <a:effectLst/>
                <a:latin typeface="Consolas" panose="020B0609020204030204" pitchFamily="49" charset="0"/>
              </a:rPr>
              <a:t>&gt;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804316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normAutofit/>
          </a:bodyPr>
          <a:lstStyle/>
          <a:p>
            <a:pPr marL="3175" indent="0">
              <a:lnSpc>
                <a:spcPct val="120000"/>
              </a:lnSpc>
              <a:buNone/>
            </a:pPr>
            <a:r>
              <a:rPr lang="en-US" dirty="0"/>
              <a:t>Concepts were introduced:</a:t>
            </a:r>
          </a:p>
          <a:p>
            <a:pPr>
              <a:lnSpc>
                <a:spcPct val="120000"/>
              </a:lnSpc>
            </a:pPr>
            <a:r>
              <a:rPr lang="en-US"/>
              <a:t>What is React component?</a:t>
            </a:r>
          </a:p>
          <a:p>
            <a:pPr>
              <a:lnSpc>
                <a:spcPct val="120000"/>
              </a:lnSpc>
            </a:pPr>
            <a:r>
              <a:rPr lang="en-US" dirty="0"/>
              <a:t>Use JSX to define the views of your component</a:t>
            </a:r>
          </a:p>
          <a:p>
            <a:pPr>
              <a:lnSpc>
                <a:spcPct val="120000"/>
              </a:lnSpc>
            </a:pPr>
            <a:r>
              <a:rPr lang="en-US" dirty="0"/>
              <a:t>Class Components</a:t>
            </a:r>
          </a:p>
          <a:p>
            <a:pPr>
              <a:lnSpc>
                <a:spcPct val="120000"/>
              </a:lnSpc>
            </a:pPr>
            <a:r>
              <a:rPr lang="en-US" dirty="0"/>
              <a:t>Lifecycle in Class Components</a:t>
            </a:r>
          </a:p>
          <a:p>
            <a:pPr>
              <a:lnSpc>
                <a:spcPct val="120000"/>
              </a:lnSpc>
            </a:pPr>
            <a:r>
              <a:rPr lang="en-US" dirty="0"/>
              <a:t>Functional Components</a:t>
            </a:r>
          </a:p>
          <a:p>
            <a:endParaRPr lang="en-US" dirty="0"/>
          </a:p>
          <a:p>
            <a:pPr marL="3175" indent="0">
              <a:lnSpc>
                <a:spcPct val="120000"/>
              </a:lnSpc>
              <a:buNone/>
            </a:pPr>
            <a:endParaRPr lang="en-US" dirty="0"/>
          </a:p>
          <a:p>
            <a:pPr>
              <a:lnSpc>
                <a:spcPct val="120000"/>
              </a:lnSpc>
            </a:pPr>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pPr/>
              <a:t>20</a:t>
            </a:fld>
            <a:endParaRPr lang="en-US" dirty="0"/>
          </a:p>
        </p:txBody>
      </p:sp>
    </p:spTree>
    <p:extLst>
      <p:ext uri="{BB962C8B-B14F-4D97-AF65-F5344CB8AC3E}">
        <p14:creationId xmlns:p14="http://schemas.microsoft.com/office/powerpoint/2010/main" val="3963196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7970</TotalTime>
  <Words>1385</Words>
  <Application>Microsoft Office PowerPoint</Application>
  <PresentationFormat>Widescreen</PresentationFormat>
  <Paragraphs>165</Paragraphs>
  <Slides>20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Consolas</vt:lpstr>
      <vt:lpstr>Merriweather Sans</vt:lpstr>
      <vt:lpstr>Noto Sans Symbols</vt:lpstr>
      <vt:lpstr>Wingdings</vt:lpstr>
      <vt:lpstr>Office Theme</vt:lpstr>
      <vt:lpstr>React Component  </vt:lpstr>
      <vt:lpstr>Objectives</vt:lpstr>
      <vt:lpstr>React Components</vt:lpstr>
      <vt:lpstr>What is a Component? </vt:lpstr>
      <vt:lpstr>Importance of Components</vt:lpstr>
      <vt:lpstr>JavaScript XML (JSX)</vt:lpstr>
      <vt:lpstr>Fragments of JSX</vt:lpstr>
      <vt:lpstr>Fragments of JSX - Demo</vt:lpstr>
      <vt:lpstr>Class Components</vt:lpstr>
      <vt:lpstr>Lifecycle in Class Components</vt:lpstr>
      <vt:lpstr>Lifecycle in Class Components (cont.)</vt:lpstr>
      <vt:lpstr>Functional Components</vt:lpstr>
      <vt:lpstr>Effects in Function Components</vt:lpstr>
      <vt:lpstr>Exporting and importing a component</vt:lpstr>
      <vt:lpstr>Component Conventions</vt:lpstr>
      <vt:lpstr>Higher-Order Components</vt:lpstr>
      <vt:lpstr>Higher-Order Components – cont’d</vt:lpstr>
      <vt:lpstr>Component Composition</vt:lpstr>
      <vt:lpstr>Component Composition – cont’d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Component</dc:title>
  <dc:creator>GoF</dc:creator>
  <cp:lastModifiedBy>Hạnh Ngọc</cp:lastModifiedBy>
  <cp:revision>286</cp:revision>
  <dcterms:created xsi:type="dcterms:W3CDTF">2021-01-25T08:25:31Z</dcterms:created>
  <dcterms:modified xsi:type="dcterms:W3CDTF">2026-09-09T02:02:50Z</dcterms:modified>
</cp:coreProperties>
</file>