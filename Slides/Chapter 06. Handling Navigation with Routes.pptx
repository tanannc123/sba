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bookmarkIdSeed="2">
  <p:sldMasterIdLst>
    <p:sldMasterId id="2147483648" r:id="rId1"/>
  </p:sldMasterIdLst>
  <p:notesMasterIdLst>
    <p:notesMasterId r:id="rId24"/>
  </p:notesMasterIdLst>
  <p:sldIdLst>
    <p:sldId id="256" r:id="rId2"/>
    <p:sldId id="307" r:id="rId3"/>
    <p:sldId id="310" r:id="rId4"/>
    <p:sldId id="318" r:id="rId5"/>
    <p:sldId id="319" r:id="rId6"/>
    <p:sldId id="320" r:id="rId7"/>
    <p:sldId id="311" r:id="rId8"/>
    <p:sldId id="314" r:id="rId9"/>
    <p:sldId id="321" r:id="rId10"/>
    <p:sldId id="322" r:id="rId11"/>
    <p:sldId id="323" r:id="rId12"/>
    <p:sldId id="324" r:id="rId13"/>
    <p:sldId id="325" r:id="rId14"/>
    <p:sldId id="326" r:id="rId15"/>
    <p:sldId id="328" r:id="rId16"/>
    <p:sldId id="329" r:id="rId17"/>
    <p:sldId id="330" r:id="rId18"/>
    <p:sldId id="331" r:id="rId19"/>
    <p:sldId id="327" r:id="rId20"/>
    <p:sldId id="316" r:id="rId21"/>
    <p:sldId id="317" r:id="rId22"/>
    <p:sldId id="303"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9" roundtripDataSignature="AMtx7mjm0V2SbzZUsP05LVTHy3YtRCoK1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74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5" autoAdjust="0"/>
    <p:restoredTop sz="58431" autoAdjust="0"/>
  </p:normalViewPr>
  <p:slideViewPr>
    <p:cSldViewPr snapToGrid="0">
      <p:cViewPr>
        <p:scale>
          <a:sx n="50" d="100"/>
          <a:sy n="50" d="100"/>
        </p:scale>
        <p:origin x="1027" y="-48"/>
      </p:cViewPr>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93"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89"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90"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Thiết lập mô-đun bộ định tuyến để cho phép điều hướng giữa nhiều chế độ xem thành phần khác nhau
Thiết lập các tuyến đường để kích hoạt điều hướng
Phía khách và phía máy chủ</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81698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Bộ</a:t>
            </a:r>
            <a:r>
              <a:rPr lang="en-GB" dirty="0"/>
              <a:t> </a:t>
            </a:r>
            <a:r>
              <a:rPr lang="en-GB" dirty="0" err="1"/>
              <a:t>định</a:t>
            </a:r>
            <a:r>
              <a:rPr lang="en-GB" dirty="0"/>
              <a:t> </a:t>
            </a:r>
            <a:r>
              <a:rPr lang="en-GB" dirty="0" err="1"/>
              <a:t>tuyến</a:t>
            </a:r>
            <a:r>
              <a:rPr lang="en-GB" dirty="0"/>
              <a:t> React</a:t>
            </a:r>
            <a:endParaRPr lang="vi-VN" dirty="0"/>
          </a:p>
          <a:p>
            <a:r>
              <a:rPr lang="vi-VN" dirty="0"/>
              <a:t>Bộ sưu tập các thành phần điều hướng
Cho phép điều hướng giữa các chế độ xem
Thành phần bộ định tuyến, thành phần so khớp tuyến đường và thành phần định vị
Sử dụng URL đánh dấu trên trình duyệt làm hướng dẫn để điều hướng đến chế độ xem do khách tạo trong ứng dụng web của bạn
Cũng có thể truyền các tham số tùy chọn</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32273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Giới</a:t>
            </a:r>
            <a:r>
              <a:rPr lang="en-GB" dirty="0"/>
              <a:t> </a:t>
            </a:r>
            <a:r>
              <a:rPr lang="en-GB" dirty="0" err="1"/>
              <a:t>thiệu</a:t>
            </a:r>
            <a:r>
              <a:rPr lang="en-GB" dirty="0"/>
              <a:t> </a:t>
            </a:r>
            <a:r>
              <a:rPr lang="en-GB" dirty="0" err="1"/>
              <a:t>bộ</a:t>
            </a:r>
            <a:r>
              <a:rPr lang="en-GB" dirty="0"/>
              <a:t> </a:t>
            </a:r>
            <a:r>
              <a:rPr lang="en-GB" dirty="0" err="1"/>
              <a:t>định</a:t>
            </a:r>
            <a:r>
              <a:rPr lang="en-GB" dirty="0"/>
              <a:t> </a:t>
            </a:r>
            <a:r>
              <a:rPr lang="en-GB" dirty="0" err="1"/>
              <a:t>tuyến</a:t>
            </a:r>
            <a:endParaRPr lang="vi-VN" dirty="0"/>
          </a:p>
          <a:p>
            <a:r>
              <a:rPr lang="vi-VN" dirty="0"/>
              <a:t>Hầu như mọi ứng dụng web đều yêu cầu định tuyến: quá trình phản hồi đến một URL, dựa trên một tập hợp các khai báo trình xử lý tuyến đường. Nói cách khác, đây là một ánh xạ từ URL sang nội dung đã hiển thị. 
Bao gồm: 
Khai báo tuyến đường
Xử lý các tham số tuyến đường
Sử dụng các thành phần liên kết</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89919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Phía</a:t>
            </a:r>
            <a:r>
              <a:rPr lang="en-GB" dirty="0"/>
              <a:t> </a:t>
            </a:r>
            <a:r>
              <a:rPr lang="en-GB" dirty="0" err="1"/>
              <a:t>khách</a:t>
            </a:r>
            <a:r>
              <a:rPr lang="en-GB" dirty="0"/>
              <a:t> </a:t>
            </a:r>
            <a:r>
              <a:rPr lang="en-GB" dirty="0" err="1"/>
              <a:t>và</a:t>
            </a:r>
            <a:r>
              <a:rPr lang="en-GB" dirty="0"/>
              <a:t> </a:t>
            </a:r>
            <a:r>
              <a:rPr lang="en-GB" dirty="0" err="1"/>
              <a:t>phía</a:t>
            </a:r>
            <a:r>
              <a:rPr lang="en-GB" dirty="0"/>
              <a:t> </a:t>
            </a:r>
            <a:r>
              <a:rPr lang="en-GB" dirty="0" err="1"/>
              <a:t>máy</a:t>
            </a:r>
            <a:r>
              <a:rPr lang="en-GB" dirty="0"/>
              <a:t> </a:t>
            </a:r>
            <a:r>
              <a:rPr lang="en-GB" dirty="0" err="1"/>
              <a:t>chủ</a:t>
            </a:r>
            <a:endParaRPr lang="vi-VN" dirty="0"/>
          </a:p>
          <a:p>
            <a:r>
              <a:rPr lang="vi-VN" dirty="0"/>
              <a:t>Chúng ta không thể bàn về định tuyến và React Router mà không nhắc đến phía client và phía server.  
Phía khách là trình duyệt. Việc xử lý nó diễn ra trên máy tính cục bộ.  
Phía máy chủ là nơi thông tin được xử lý rồi gửi đến trình duyệt.</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79893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Các </a:t>
            </a:r>
            <a:r>
              <a:rPr lang="en-GB" dirty="0" err="1"/>
              <a:t>thành</a:t>
            </a:r>
            <a:r>
              <a:rPr lang="en-GB" dirty="0"/>
              <a:t> </a:t>
            </a:r>
            <a:r>
              <a:rPr lang="en-GB" dirty="0" err="1"/>
              <a:t>phần</a:t>
            </a:r>
            <a:r>
              <a:rPr lang="en-GB" dirty="0"/>
              <a:t> </a:t>
            </a:r>
            <a:r>
              <a:rPr lang="en-GB" dirty="0" err="1"/>
              <a:t>của</a:t>
            </a:r>
            <a:r>
              <a:rPr lang="en-GB" dirty="0"/>
              <a:t> </a:t>
            </a:r>
            <a:r>
              <a:rPr lang="en-GB" dirty="0" err="1"/>
              <a:t>bộ</a:t>
            </a:r>
            <a:r>
              <a:rPr lang="en-GB" dirty="0"/>
              <a:t> </a:t>
            </a:r>
            <a:r>
              <a:rPr lang="en-GB" dirty="0" err="1"/>
              <a:t>định</a:t>
            </a:r>
            <a:r>
              <a:rPr lang="en-GB" dirty="0"/>
              <a:t> </a:t>
            </a:r>
            <a:r>
              <a:rPr lang="en-GB" dirty="0" err="1"/>
              <a:t>tuyến</a:t>
            </a:r>
            <a:endParaRPr lang="vi-VN" dirty="0"/>
          </a:p>
          <a:p>
            <a:r>
              <a:rPr lang="vi-VN" dirty="0"/>
              <a:t>&lt;BrowserRouter&gt; lưu vị trí hiện tại trên thanh địa chỉ của trình duyệt bằng các URL sạch và điều hướng bằng ngăn xếp lịch sử tích hợp sẵn của trình duyệt. 
&lt;HashRouter&gt; được sử dụng trong trình duyệt web khi URL không nên (hoặc không thể) được gửi đến máy chủ vì lý do nào đó. Điều này có thể xảy ra trong một số trường hợp lưu trữ chia sẻ khi bạn không kiểm soát hoàn toàn máy chủ. Trong những trường hợp này, &lt;HashRouter&gt; cho phép lưu vị trí hiện tại trong phần băm của URL hiện tại, để nó không bao giờ được gửi đến máy chủ. 
A &lt;MemoryRouter&gt; lưu trữ vị trí của nó bên trong trong một mảng. Khác với &lt;BrowserHistory&gt; và&lt;HashHistory&gt;, nó không liên kết với nguồn bên ngoài, như ngăn xếp lịch sử trong trình duyệt. Điều này khiến nó lý tưởng cho các tình huống bạn cần kiểm soát hoàn toàn ngăn xếp lịch sử, như kiểm thử. 
&lt;StaticRouter&gt; được sử dụng để kết xuất một ứng dụng web React Router trong node. Cung cấp vị trí hiện tại qua prop vị trí. 
&lt;NativeRouter&gt; là giao diện được khuyến nghị để chạy React Router trong ứng dụng React Native.</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99610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Định </a:t>
            </a:r>
            <a:r>
              <a:rPr lang="en-GB" dirty="0" err="1"/>
              <a:t>tuyến</a:t>
            </a:r>
            <a:r>
              <a:rPr lang="en-GB" dirty="0"/>
              <a:t> </a:t>
            </a:r>
            <a:r>
              <a:rPr lang="en-GB" dirty="0" err="1"/>
              <a:t>ứng</a:t>
            </a:r>
            <a:r>
              <a:rPr lang="en-GB" dirty="0"/>
              <a:t> </a:t>
            </a:r>
            <a:r>
              <a:rPr lang="en-GB" dirty="0" err="1"/>
              <a:t>dụng</a:t>
            </a:r>
            <a:r>
              <a:rPr lang="en-GB" dirty="0"/>
              <a:t> web – </a:t>
            </a:r>
            <a:r>
              <a:rPr lang="en-GB" dirty="0" err="1"/>
              <a:t>sử</a:t>
            </a:r>
            <a:r>
              <a:rPr lang="en-GB" dirty="0"/>
              <a:t> </a:t>
            </a:r>
            <a:r>
              <a:rPr lang="en-GB" dirty="0" err="1"/>
              <a:t>dụng</a:t>
            </a:r>
            <a:r>
              <a:rPr lang="en-GB" dirty="0"/>
              <a:t> &lt;</a:t>
            </a:r>
            <a:r>
              <a:rPr lang="en-GB" dirty="0" err="1"/>
              <a:t>BrowserRouter</a:t>
            </a:r>
            <a:r>
              <a:rPr lang="en-GB" dirty="0"/>
              <a:t>&gt;</a:t>
            </a:r>
            <a:endParaRPr lang="vi-VN" dirty="0"/>
          </a:p>
          <a:p>
            <a:r>
              <a:rPr lang="en-GB" dirty="0" err="1"/>
              <a:t>cài</a:t>
            </a:r>
            <a:r>
              <a:rPr lang="en-GB" dirty="0"/>
              <a:t> </a:t>
            </a:r>
            <a:r>
              <a:rPr lang="en-GB" dirty="0" err="1"/>
              <a:t>đặt</a:t>
            </a:r>
            <a:r>
              <a:rPr lang="en-GB" dirty="0"/>
              <a:t> </a:t>
            </a:r>
            <a:r>
              <a:rPr lang="en-GB" dirty="0" err="1"/>
              <a:t>npm</a:t>
            </a:r>
            <a:r>
              <a:rPr lang="en-GB" dirty="0"/>
              <a:t> react-router-</a:t>
            </a:r>
            <a:r>
              <a:rPr lang="en-GB" dirty="0" err="1"/>
              <a:t>dom</a:t>
            </a:r>
            <a:r>
              <a:rPr lang="en-GB" dirty="0"/>
              <a:t>
Thành </a:t>
            </a:r>
            <a:r>
              <a:rPr lang="en-GB" dirty="0" err="1"/>
              <a:t>phần</a:t>
            </a:r>
            <a:r>
              <a:rPr lang="en-GB" dirty="0"/>
              <a:t> </a:t>
            </a:r>
            <a:r>
              <a:rPr lang="en-GB" dirty="0" err="1"/>
              <a:t>bộ</a:t>
            </a:r>
            <a:r>
              <a:rPr lang="en-GB" dirty="0"/>
              <a:t> </a:t>
            </a:r>
            <a:r>
              <a:rPr lang="en-GB" dirty="0" err="1"/>
              <a:t>định</a:t>
            </a:r>
            <a:r>
              <a:rPr lang="en-GB" dirty="0"/>
              <a:t> </a:t>
            </a:r>
            <a:r>
              <a:rPr lang="en-GB" dirty="0" err="1"/>
              <a:t>tuyến</a:t>
            </a:r>
            <a:r>
              <a:rPr lang="en-GB" dirty="0"/>
              <a:t>: &lt;</a:t>
            </a:r>
            <a:r>
              <a:rPr lang="en-GB" dirty="0" err="1"/>
              <a:t>BrowserRouter</a:t>
            </a:r>
            <a:r>
              <a:rPr lang="en-GB" dirty="0"/>
              <a:t>&gt;
</a:t>
            </a:r>
            <a:r>
              <a:rPr lang="en-GB" dirty="0" err="1"/>
              <a:t>Đóng</a:t>
            </a:r>
            <a:r>
              <a:rPr lang="en-GB" dirty="0"/>
              <a:t> </a:t>
            </a:r>
            <a:r>
              <a:rPr lang="en-GB" dirty="0" err="1"/>
              <a:t>gói</a:t>
            </a:r>
            <a:r>
              <a:rPr lang="en-GB" dirty="0"/>
              <a:t> </a:t>
            </a:r>
            <a:r>
              <a:rPr lang="en-GB" dirty="0" err="1"/>
              <a:t>ứng</a:t>
            </a:r>
            <a:r>
              <a:rPr lang="en-GB" dirty="0"/>
              <a:t> </a:t>
            </a:r>
            <a:r>
              <a:rPr lang="en-GB" dirty="0" err="1"/>
              <a:t>dụng</a:t>
            </a:r>
            <a:r>
              <a:rPr lang="en-GB" dirty="0"/>
              <a:t> </a:t>
            </a:r>
            <a:r>
              <a:rPr lang="en-GB" dirty="0" err="1"/>
              <a:t>của</a:t>
            </a:r>
            <a:r>
              <a:rPr lang="en-GB" dirty="0"/>
              <a:t> </a:t>
            </a:r>
            <a:r>
              <a:rPr lang="en-GB" dirty="0" err="1"/>
              <a:t>bạn</a:t>
            </a:r>
            <a:r>
              <a:rPr lang="en-GB" dirty="0"/>
              <a:t> </a:t>
            </a:r>
            <a:r>
              <a:rPr lang="en-GB" dirty="0" err="1"/>
              <a:t>vào</a:t>
            </a:r>
            <a:r>
              <a:rPr lang="en-GB" dirty="0"/>
              <a:t> &lt;</a:t>
            </a:r>
            <a:r>
              <a:rPr lang="en-GB" dirty="0" err="1"/>
              <a:t>BrowserRouter</a:t>
            </a:r>
            <a:r>
              <a:rPr lang="en-GB" dirty="0"/>
              <a:t>&gt; &lt;/</a:t>
            </a:r>
            <a:r>
              <a:rPr lang="en-GB" dirty="0" err="1"/>
              <a:t>BrowserRouter</a:t>
            </a:r>
            <a:r>
              <a:rPr lang="en-GB" dirty="0"/>
              <a:t>&gt;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42365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Đối chiếu tuyến đường</a:t>
            </a:r>
          </a:p>
          <a:p>
            <a:r>
              <a:rPr lang="vi-VN" dirty="0"/>
              <a:t>Các thành phần khớp tuyến đường: &lt;Routes&gt; và &lt;Route&gt;
&lt;Route&gt;prop đường dẫn của 's cho phép chỉ định tên đường dẫn của vị trí hiện tại
&lt;Route&gt;prop thành phần của chỉ định chế độ xem tương ứng cho vị trí
Sử dụng thuộc tính chính xác đảm bảo đường dẫn phải được khớp chính xác
cho &lt;Route&gt; phép nhóm nhiều tuyến lại với nhau
Cú pháp: &lt;Route path='/' element={component}&gt;&lt;/Route&gt;</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68642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&lt;Routes&gt; </a:t>
            </a:r>
            <a:r>
              <a:rPr lang="en-GB" dirty="0" err="1"/>
              <a:t>thành</a:t>
            </a:r>
            <a:r>
              <a:rPr lang="en-GB" dirty="0"/>
              <a:t> </a:t>
            </a:r>
            <a:r>
              <a:rPr lang="en-GB" dirty="0" err="1"/>
              <a:t>phần</a:t>
            </a:r>
            <a:endParaRPr lang="vi-VN" dirty="0"/>
          </a:p>
          <a:p>
            <a:r>
              <a:rPr lang="vi-VN" dirty="0"/>
              <a:t>Kết xuất ở bất kỳ đâu trong ứng dụng &lt;Routes&gt; sẽ khớp với một tập hợp các tuyến con từ vị trí hiện tại. 
Bất cứ khi nào vị trí thay đổi, hãy &lt;Routes&gt; xem qua tất cả các đường con của nó để tìm sự phù hợp tốt nhất và hiển thị nhánh đó của giao diện người dùng.&lt;Route&gt; Các phần tử có thể được lồng nhau để chỉ ra giao diện người dùng lồng nhau, đồng thời tương ứng với các đường dẫn URL lồng nhau</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8961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&lt;Outlet&gt; </a:t>
            </a:r>
            <a:r>
              <a:rPr lang="en-GB" dirty="0" err="1"/>
              <a:t>thành</a:t>
            </a:r>
            <a:r>
              <a:rPr lang="en-GB" dirty="0"/>
              <a:t> </a:t>
            </a:r>
            <a:r>
              <a:rPr lang="en-GB" dirty="0" err="1"/>
              <a:t>phần</a:t>
            </a:r>
            <a:endParaRPr lang="vi-VN" dirty="0"/>
          </a:p>
          <a:p>
            <a:r>
              <a:rPr lang="vi-VN" dirty="0"/>
              <a:t>An &lt;Outlet&gt; nên được sử dụng trong các phần tử tuyến cha để hiển thị các phần tử tuyến con của chúng. Điều này cho phép giao diện lồng nhau xuất hiện khi các tuyến con được hiển thị. Nếu tuyến cha khớp chính xác, nó sẽ hiển thị tuyến chỉ mục con hoặc không hiển thị gì nếu không có chỉ mục.</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37672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&lt;Link&gt; </a:t>
            </a:r>
            <a:r>
              <a:rPr lang="en-GB" dirty="0" err="1"/>
              <a:t>thành</a:t>
            </a:r>
            <a:r>
              <a:rPr lang="en-GB" dirty="0"/>
              <a:t> </a:t>
            </a:r>
            <a:r>
              <a:rPr lang="en-GB" dirty="0" err="1"/>
              <a:t>phần</a:t>
            </a:r>
            <a:endParaRPr lang="vi-VN" dirty="0"/>
          </a:p>
          <a:p>
            <a:r>
              <a:rPr lang="vi-VN" dirty="0"/>
              <a:t>A &lt;Link&gt; là một phần tử cho phép người dùng điều hướng đến trang khác bằng cách nhấp hoặc chạm vào nó. Trong react-router-dom, một &lt;Link&gt; phần tử hiển thị một phần tử có thể truy cập &lt;a&gt; được với một href thật trỏ đến tài nguyên mà nó đang liên kết. Điều này có nghĩa là những việc như nhấp chuột phải vào &lt;Link&gt; một tác phẩm như bạn mong đợi. Bạn có thể dùng &lt;Link reloadDocument&gt; để bỏ qua định tuyến phía client và để trình duyệt xử lý chuyển đổi bình thường (như thể đó là một &lt;href&gt;).</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02469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&lt;</a:t>
            </a:r>
            <a:r>
              <a:rPr lang="en-GB" dirty="0" err="1"/>
              <a:t>NavLink</a:t>
            </a:r>
            <a:r>
              <a:rPr lang="en-GB" dirty="0"/>
              <a:t>&gt; </a:t>
            </a:r>
            <a:r>
              <a:rPr lang="en-GB" dirty="0" err="1"/>
              <a:t>thành</a:t>
            </a:r>
            <a:r>
              <a:rPr lang="en-GB" dirty="0"/>
              <a:t> </a:t>
            </a:r>
            <a:r>
              <a:rPr lang="en-GB" dirty="0" err="1"/>
              <a:t>phần</a:t>
            </a:r>
            <a:endParaRPr lang="vi-VN" dirty="0"/>
          </a:p>
          <a:p>
            <a:r>
              <a:rPr lang="vi-VN" dirty="0"/>
              <a:t>A &lt;NavLink&gt; là một loại đặc biệt &lt;Link&gt; biết liệu nó đang "đang hoạt động", "đang chờ xử lý" hay "đang chuyển đổi". Điều này hữu ích trong một vài kịch bản khác nhau: 
Khi xây dựng menu điều hướng, chẳng hạn như một mẩu bánh mì hoặc một tập hợp các tab nơi bạn muốn hiển thị những tab nào đang được chọn
Nó cung cấp bối cảnh hữu ích cho công nghệ hỗ trợ như trình đọc màn hình
Nó cung cấp giá trị "chuyển đổi" để bạn kiểm soát chi tiết hơn đối với các chuyển tiếp Xem</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54537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&lt;Navigate&gt; </a:t>
            </a:r>
            <a:r>
              <a:rPr lang="en-GB" dirty="0" err="1"/>
              <a:t>thành</a:t>
            </a:r>
            <a:r>
              <a:rPr lang="en-GB" dirty="0"/>
              <a:t> </a:t>
            </a:r>
            <a:r>
              <a:rPr lang="en-GB" dirty="0" err="1"/>
              <a:t>phần</a:t>
            </a:r>
            <a:endParaRPr lang="vi-VN" dirty="0"/>
          </a:p>
          <a:p>
            <a:r>
              <a:rPr lang="vi-VN" dirty="0"/>
              <a:t>Một &lt;Navigate&gt; phần tử thay đổi vị trí hiện tại khi nó được render. Nó là một component wrapper xung quanh useNavigate, và chấp nhận tất cả các đối số giống như props.</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23216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móc</a:t>
            </a:r>
            <a:r>
              <a:rPr lang="en-GB" dirty="0"/>
              <a:t> </a:t>
            </a:r>
            <a:r>
              <a:rPr lang="en-GB" dirty="0" err="1"/>
              <a:t>câu</a:t>
            </a:r>
            <a:endParaRPr lang="en-GB" dirty="0"/>
          </a:p>
          <a:p>
            <a:r>
              <a:rPr lang="vi-VN" dirty="0"/>
              <a:t>useLocation trả về đối tượng vị trí hiện tại. 
useNavigate trả về một hàm cho phép bạn điều hướng bằng lập trình. 
Hook useParams trả về một đối tượng gồm các cặp khóa/giá trị của các tham số động từ URL hiện tại được khớp bởi &lt;Đường dẫn đường&gt;. Các tuyến con kế thừa tất cả các tham số từ các tuyến cha. 
Hook useSearchParams được sử dụng để đọc và chỉnh sửa chuỗi truy vấn trong URL của vị trí hiện tại. 
Hook useRoutes là tương đương chức năng của &lt;Routes&gt;, nhưng nó sử dụng các đối tượng JavaScript thay vì &lt;Route&gt; phần tử để định nghĩa các tuyến của bạn. Các đối tượng này có cùng thuộc tính với &lt;Route&gt; phần tử thông thường, nhưng không yêu cầu JSX.</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46960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Các </a:t>
            </a:r>
            <a:r>
              <a:rPr lang="en-GB" dirty="0" err="1"/>
              <a:t>thông</a:t>
            </a:r>
            <a:r>
              <a:rPr lang="en-GB" dirty="0"/>
              <a:t> </a:t>
            </a:r>
            <a:r>
              <a:rPr lang="en-GB" dirty="0" err="1"/>
              <a:t>số</a:t>
            </a:r>
            <a:endParaRPr lang="en-GB" dirty="0"/>
          </a:p>
          <a:p>
            <a:r>
              <a:rPr lang="vi-VN" dirty="0"/>
              <a:t>Đường dẫn được chỉ định dưới dạng URL
Đường dẫn cũng có thể mang các giá trị tham số: ví dụ, /orchids/3, trong đó 3 là tham số tuyến đường
Tham số định tuyến được chỉ định trong mô tả đường dẫn dưới dạng token
ví dụ, đường dẫn: 'orchid/:id' trong đó id là token</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7270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Tham số tuyến đường có thể được chỉ định bằng tham số liên kết trong khi chỉ định liên kết
ví dụ, &lt;Link to={'/orchid/${orchid.id}'} &gt;
Sử dụng Hook 'useParams' để trả về một đối tượng gồm các cặp khóa/giá trị của các tham số động từ URL hiện tại được khớp bởi &lt;Đường dẫn đường&gt;</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5193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khái niệm đã được giới thiệu: 
 Thiết lập mô-đun bộ định tuyến để cho phép điều hướng giữa nhiều chế độ xem thành phần khác nhau
Thiết lập các tuyến đường để kích hoạt điều hướng
Phía khách và phía máy chủ</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742569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8"/>
          <p:cNvSpPr txBox="1">
            <a:spLocks noGrp="1"/>
          </p:cNvSpPr>
          <p:nvPr>
            <p:ph type="ctrTitle"/>
          </p:nvPr>
        </p:nvSpPr>
        <p:spPr>
          <a:xfrm>
            <a:off x="1524000" y="1988598"/>
            <a:ext cx="9144000" cy="1521364"/>
          </a:xfrm>
          <a:prstGeom prst="rect">
            <a:avLst/>
          </a:prstGeom>
          <a:solidFill>
            <a:srgbClr val="FB7432"/>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7" name="Google Shape;17;p48"/>
          <p:cNvSpPr txBox="1">
            <a:spLocks noGrp="1"/>
          </p:cNvSpPr>
          <p:nvPr>
            <p:ph type="subTitle" idx="1"/>
          </p:nvPr>
        </p:nvSpPr>
        <p:spPr>
          <a:xfrm>
            <a:off x="1524000" y="3602038"/>
            <a:ext cx="9144000" cy="122741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 name="Picture 3"/>
          <p:cNvPicPr>
            <a:picLocks noChangeAspect="1"/>
          </p:cNvPicPr>
          <p:nvPr userDrawn="1"/>
        </p:nvPicPr>
        <p:blipFill>
          <a:blip r:embed="rId2"/>
          <a:stretch>
            <a:fillRect/>
          </a:stretch>
        </p:blipFill>
        <p:spPr>
          <a:xfrm>
            <a:off x="11389199" y="25370"/>
            <a:ext cx="802801" cy="1349067"/>
          </a:xfrm>
          <a:prstGeom prst="rect">
            <a:avLst/>
          </a:prstGeom>
        </p:spPr>
      </p:pic>
      <p:pic>
        <p:nvPicPr>
          <p:cNvPr id="2" name="Picture 1">
            <a:extLst>
              <a:ext uri="{FF2B5EF4-FFF2-40B4-BE49-F238E27FC236}">
                <a16:creationId xmlns:a16="http://schemas.microsoft.com/office/drawing/2014/main" id="{08CEAAFF-FE0C-4084-11F9-F8B3E26F6AB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 y="6481214"/>
            <a:ext cx="12192000" cy="3827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4558A2C-75A2-6180-1CC5-B21A1BFD447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auto">
          <a:xfrm>
            <a:off x="29817" y="31035"/>
            <a:ext cx="1595654" cy="77640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lt1"/>
        </a:solidFill>
        <a:effectLst/>
      </p:bgPr>
    </p:bg>
    <p:spTree>
      <p:nvGrpSpPr>
        <p:cNvPr id="1" name="Shape 21"/>
        <p:cNvGrpSpPr/>
        <p:nvPr/>
      </p:nvGrpSpPr>
      <p:grpSpPr>
        <a:xfrm>
          <a:off x="0" y="0"/>
          <a:ext cx="0" cy="0"/>
          <a:chOff x="0" y="0"/>
          <a:chExt cx="0" cy="0"/>
        </a:xfrm>
      </p:grpSpPr>
      <p:sp>
        <p:nvSpPr>
          <p:cNvPr id="23" name="Google Shape;23;p49"/>
          <p:cNvSpPr txBox="1">
            <a:spLocks noGrp="1"/>
          </p:cNvSpPr>
          <p:nvPr>
            <p:ph type="title"/>
          </p:nvPr>
        </p:nvSpPr>
        <p:spPr>
          <a:xfrm>
            <a:off x="219897" y="659103"/>
            <a:ext cx="11169301" cy="650138"/>
          </a:xfrm>
          <a:prstGeom prst="rect">
            <a:avLst/>
          </a:prstGeom>
          <a:solidFill>
            <a:schemeClr val="lt1"/>
          </a:solid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sz="4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4" name="Google Shape;24;p49"/>
          <p:cNvSpPr txBox="1">
            <a:spLocks noGrp="1"/>
          </p:cNvSpPr>
          <p:nvPr>
            <p:ph type="body" idx="1"/>
          </p:nvPr>
        </p:nvSpPr>
        <p:spPr>
          <a:xfrm>
            <a:off x="0" y="1627444"/>
            <a:ext cx="12192000" cy="4814445"/>
          </a:xfrm>
          <a:prstGeom prst="rect">
            <a:avLst/>
          </a:prstGeom>
          <a:noFill/>
          <a:ln>
            <a:noFill/>
          </a:ln>
        </p:spPr>
        <p:txBody>
          <a:bodyPr spcFirstLastPara="1" wrap="square" lIns="91425" tIns="45700" rIns="91425" bIns="45700" anchor="t" anchorCtr="0">
            <a:normAutofit/>
          </a:bodyPr>
          <a:lstStyle>
            <a:lvl1pPr marL="346075" marR="0" lvl="0" indent="-342900" algn="just" rtl="0">
              <a:lnSpc>
                <a:spcPct val="120000"/>
              </a:lnSpc>
              <a:spcBef>
                <a:spcPts val="0"/>
              </a:spcBef>
              <a:spcAft>
                <a:spcPts val="0"/>
              </a:spcAft>
              <a:buClr>
                <a:srgbClr val="973735"/>
              </a:buClr>
              <a:buSzPct val="50000"/>
              <a:buFont typeface="Noto Sans Symbols"/>
              <a:buChar char="◆"/>
              <a:defRPr lang="en-US" sz="2600" b="0" i="0" u="none" strike="noStrike" cap="none" dirty="0" smtClean="0">
                <a:solidFill>
                  <a:schemeClr val="dk1"/>
                </a:solidFill>
                <a:latin typeface="Arial"/>
                <a:ea typeface="Arial"/>
                <a:cs typeface="Arial"/>
                <a:sym typeface="Arial"/>
              </a:defRPr>
            </a:lvl1pPr>
            <a:lvl2pPr marL="682625" lvl="1" indent="-342900" algn="just">
              <a:lnSpc>
                <a:spcPct val="120000"/>
              </a:lnSpc>
              <a:spcBef>
                <a:spcPts val="0"/>
              </a:spcBef>
              <a:spcAft>
                <a:spcPts val="0"/>
              </a:spcAft>
              <a:buClr>
                <a:srgbClr val="963737"/>
              </a:buClr>
              <a:buSzPts val="1800"/>
              <a:buFont typeface="Wingdings" panose="05000000000000000000" pitchFamily="2" charset="2"/>
              <a:buChar char="§"/>
              <a:defRPr sz="2600"/>
            </a:lvl2pPr>
            <a:lvl3pPr marL="1371600" lvl="2" indent="-342900" algn="l">
              <a:lnSpc>
                <a:spcPct val="90000"/>
              </a:lnSpc>
              <a:spcBef>
                <a:spcPts val="500"/>
              </a:spcBef>
              <a:spcAft>
                <a:spcPts val="0"/>
              </a:spcAft>
              <a:buClr>
                <a:srgbClr val="963737"/>
              </a:buClr>
              <a:buSzPts val="1800"/>
              <a:buChar char="•"/>
              <a:defRPr sz="2300"/>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a:p>
            <a:pPr lvl="1"/>
            <a:endParaRPr lang="en-US" dirty="0"/>
          </a:p>
          <a:p>
            <a:pPr lvl="1"/>
            <a:endParaRPr dirty="0"/>
          </a:p>
        </p:txBody>
      </p:sp>
      <p:sp>
        <p:nvSpPr>
          <p:cNvPr id="26" name="Google Shape;26;p49"/>
          <p:cNvSpPr txBox="1"/>
          <p:nvPr userDrawn="1"/>
        </p:nvSpPr>
        <p:spPr>
          <a:xfrm>
            <a:off x="1" y="600804"/>
            <a:ext cx="219896" cy="867538"/>
          </a:xfrm>
          <a:prstGeom prst="rect">
            <a:avLst/>
          </a:prstGeom>
          <a:solidFill>
            <a:srgbClr val="FB743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 name="Picture 9"/>
          <p:cNvPicPr>
            <a:picLocks noChangeAspect="1"/>
          </p:cNvPicPr>
          <p:nvPr userDrawn="1"/>
        </p:nvPicPr>
        <p:blipFill>
          <a:blip r:embed="rId2"/>
          <a:stretch>
            <a:fillRect/>
          </a:stretch>
        </p:blipFill>
        <p:spPr>
          <a:xfrm>
            <a:off x="11389199" y="25370"/>
            <a:ext cx="802801" cy="1349067"/>
          </a:xfrm>
          <a:prstGeom prst="rect">
            <a:avLst/>
          </a:prstGeom>
        </p:spPr>
      </p:pic>
      <p:pic>
        <p:nvPicPr>
          <p:cNvPr id="3" name="Picture 2">
            <a:extLst>
              <a:ext uri="{FF2B5EF4-FFF2-40B4-BE49-F238E27FC236}">
                <a16:creationId xmlns:a16="http://schemas.microsoft.com/office/drawing/2014/main" id="{C27C59A4-873A-9F24-D0CF-49407B9C51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7909"/>
            <a:ext cx="1197849" cy="582842"/>
          </a:xfrm>
          <a:prstGeom prst="rect">
            <a:avLst/>
          </a:prstGeom>
        </p:spPr>
      </p:pic>
      <p:pic>
        <p:nvPicPr>
          <p:cNvPr id="2" name="Picture 1">
            <a:extLst>
              <a:ext uri="{FF2B5EF4-FFF2-40B4-BE49-F238E27FC236}">
                <a16:creationId xmlns:a16="http://schemas.microsoft.com/office/drawing/2014/main" id="{2C8BF003-DE94-8FC6-3C20-271FF86E136E}"/>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0" y="6453319"/>
            <a:ext cx="11784330" cy="412541"/>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449A8C01-8DC2-97C8-4F54-16BE6D03727C}"/>
              </a:ext>
            </a:extLst>
          </p:cNvPr>
          <p:cNvCxnSpPr>
            <a:cxnSpLocks/>
          </p:cNvCxnSpPr>
          <p:nvPr userDrawn="1"/>
        </p:nvCxnSpPr>
        <p:spPr>
          <a:xfrm>
            <a:off x="0" y="1468342"/>
            <a:ext cx="12192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5E00232-167D-C55B-1FD9-04BD27E02609}"/>
              </a:ext>
            </a:extLst>
          </p:cNvPr>
          <p:cNvSpPr txBox="1"/>
          <p:nvPr userDrawn="1"/>
        </p:nvSpPr>
        <p:spPr>
          <a:xfrm>
            <a:off x="15556230" y="3337560"/>
            <a:ext cx="184731" cy="307777"/>
          </a:xfrm>
          <a:prstGeom prst="rect">
            <a:avLst/>
          </a:prstGeom>
          <a:noFill/>
          <a:ln>
            <a:solidFill>
              <a:schemeClr val="accent2"/>
            </a:solidFill>
          </a:ln>
        </p:spPr>
        <p:txBody>
          <a:bodyPr wrap="none" rtlCol="0">
            <a:spAutoFit/>
          </a:bodyPr>
          <a:lstStyle/>
          <a:p>
            <a:endParaRPr lang="en-VN" dirty="0"/>
          </a:p>
        </p:txBody>
      </p:sp>
      <p:sp>
        <p:nvSpPr>
          <p:cNvPr id="25" name="Google Shape;25;p49"/>
          <p:cNvSpPr txBox="1">
            <a:spLocks noGrp="1"/>
          </p:cNvSpPr>
          <p:nvPr>
            <p:ph type="sldNum" idx="12"/>
          </p:nvPr>
        </p:nvSpPr>
        <p:spPr>
          <a:xfrm>
            <a:off x="11784330" y="6460934"/>
            <a:ext cx="412640" cy="387127"/>
          </a:xfrm>
          <a:prstGeom prst="rect">
            <a:avLst/>
          </a:prstGeom>
          <a:solidFill>
            <a:srgbClr val="FB7432"/>
          </a:solidFill>
          <a:ln/>
        </p:spPr>
        <p:style>
          <a:lnRef idx="2">
            <a:schemeClr val="accent2"/>
          </a:lnRef>
          <a:fillRef idx="1">
            <a:schemeClr val="lt1"/>
          </a:fillRef>
          <a:effectRef idx="0">
            <a:schemeClr val="accent2"/>
          </a:effectRef>
          <a:fontRef idx="minor">
            <a:schemeClr val="dk1"/>
          </a:fontRef>
        </p:style>
        <p:txBody>
          <a:bodyPr spcFirstLastPara="1" wrap="none" lIns="91425" tIns="45700" rIns="91425" bIns="45700" anchor="ctr" anchorCtr="0">
            <a:noAutofit/>
          </a:bodyPr>
          <a:lstStyle>
            <a:lvl1pPr marL="0" lvl="0" indent="0" algn="ctr">
              <a:spcBef>
                <a:spcPts val="0"/>
              </a:spcBef>
              <a:buNone/>
              <a:defRPr sz="1400" b="1">
                <a:solidFill>
                  <a:schemeClr val="bg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fld id="{FB8E955E-38D4-6645-BF9C-5404CE26DFBD}" type="datetime1">
              <a:rPr lang="en-US" smtClean="0"/>
              <a:t>9/15/2026</a:t>
            </a:fld>
            <a:endParaRPr/>
          </a:p>
        </p:txBody>
      </p:sp>
      <p:sp>
        <p:nvSpPr>
          <p:cNvPr id="13" name="Google Shape;13;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1524000" y="2241458"/>
            <a:ext cx="9202270" cy="177436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chor="ctr">
            <a:normAutofit/>
          </a:bodyPr>
          <a:lstStyle/>
          <a:p>
            <a:pPr>
              <a:spcBef>
                <a:spcPct val="0"/>
              </a:spcBef>
            </a:pPr>
            <a:r>
              <a:rPr lang="en-US" sz="4400" b="1" kern="1200">
                <a:solidFill>
                  <a:schemeClr val="accent2"/>
                </a:solidFill>
                <a:latin typeface="Arial" panose="020B0604020202020204" pitchFamily="34" charset="0"/>
                <a:ea typeface="+mj-ea"/>
                <a:cs typeface="Arial" panose="020B0604020202020204" pitchFamily="34" charset="0"/>
              </a:rPr>
              <a:t>Handling </a:t>
            </a:r>
            <a:r>
              <a:rPr lang="en-US" sz="4400" b="1" kern="1200" dirty="0">
                <a:solidFill>
                  <a:schemeClr val="accent2"/>
                </a:solidFill>
                <a:latin typeface="Arial" panose="020B0604020202020204" pitchFamily="34" charset="0"/>
                <a:ea typeface="+mj-ea"/>
                <a:cs typeface="Arial" panose="020B0604020202020204" pitchFamily="34" charset="0"/>
              </a:rPr>
              <a:t>Navigation with Routes</a:t>
            </a:r>
            <a:endParaRPr sz="4400" b="1" kern="1200" dirty="0">
              <a:solidFill>
                <a:schemeClr val="accent2"/>
              </a:solidFill>
              <a:latin typeface="Arial" panose="020B0604020202020204" pitchFamily="34" charset="0"/>
              <a:ea typeface="+mj-ea"/>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Text Placeholder 2"/>
          <p:cNvSpPr>
            <a:spLocks noGrp="1"/>
          </p:cNvSpPr>
          <p:nvPr>
            <p:ph type="body" idx="1"/>
          </p:nvPr>
        </p:nvSpPr>
        <p:spPr/>
        <p:txBody>
          <a:bodyPr>
            <a:normAutofit/>
          </a:bodyPr>
          <a:lstStyle/>
          <a:p>
            <a:pPr>
              <a:lnSpc>
                <a:spcPct val="120000"/>
              </a:lnSpc>
            </a:pPr>
            <a:r>
              <a:rPr lang="en-US" dirty="0"/>
              <a:t>Set up the router module to enable navigation among multiple component views</a:t>
            </a:r>
          </a:p>
          <a:p>
            <a:pPr>
              <a:lnSpc>
                <a:spcPct val="120000"/>
              </a:lnSpc>
            </a:pPr>
            <a:r>
              <a:rPr lang="en-US" dirty="0"/>
              <a:t>Set up the routes to enable the navigation</a:t>
            </a:r>
          </a:p>
          <a:p>
            <a:pPr>
              <a:lnSpc>
                <a:spcPct val="120000"/>
              </a:lnSpc>
            </a:pPr>
            <a:r>
              <a:rPr lang="en-US" dirty="0"/>
              <a:t>Client vs. Server Side</a:t>
            </a:r>
          </a:p>
          <a:p>
            <a:pPr>
              <a:lnSpc>
                <a:spcPct val="120000"/>
              </a:lnSpc>
            </a:pPr>
            <a:endParaRPr lang="en-US" dirty="0"/>
          </a:p>
          <a:p>
            <a:pPr marL="3175" indent="0">
              <a:lnSpc>
                <a:spcPct val="120000"/>
              </a:lnSpc>
              <a:buNone/>
            </a:pPr>
            <a:endParaRPr lang="en-US" sz="2600" dirty="0"/>
          </a:p>
          <a:p>
            <a:pPr>
              <a:lnSpc>
                <a:spcPct val="120000"/>
              </a:lnSpc>
            </a:pPr>
            <a:endParaRPr lang="en-US" dirty="0"/>
          </a:p>
        </p:txBody>
      </p:sp>
      <p:sp>
        <p:nvSpPr>
          <p:cNvPr id="4" name="Slide Number Placeholder 3"/>
          <p:cNvSpPr>
            <a:spLocks noGrp="1"/>
          </p:cNvSpPr>
          <p:nvPr>
            <p:ph type="sldNum" idx="12"/>
          </p:nvPr>
        </p:nvSpPr>
        <p:spPr/>
        <p:txBody>
          <a:bodyPr/>
          <a:lstStyle/>
          <a:p>
            <a:fld id="{00000000-1234-1234-1234-123412341234}" type="slidenum">
              <a:rPr lang="en-US" smtClean="0"/>
              <a:pPr/>
              <a:t>2</a:t>
            </a:fld>
            <a:endParaRPr lang="en-US" dirty="0"/>
          </a:p>
        </p:txBody>
      </p:sp>
    </p:spTree>
    <p:extLst>
      <p:ext uri="{BB962C8B-B14F-4D97-AF65-F5344CB8AC3E}">
        <p14:creationId xmlns:p14="http://schemas.microsoft.com/office/powerpoint/2010/main" val="1639987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597" y="760703"/>
            <a:ext cx="11169301" cy="650138"/>
          </a:xfrm>
        </p:spPr>
        <p:txBody>
          <a:bodyPr/>
          <a:lstStyle/>
          <a:p>
            <a:r>
              <a:rPr lang="en-US" dirty="0"/>
              <a:t>React router</a:t>
            </a:r>
          </a:p>
        </p:txBody>
      </p:sp>
      <p:sp>
        <p:nvSpPr>
          <p:cNvPr id="3" name="Text Placeholder 2"/>
          <p:cNvSpPr>
            <a:spLocks noGrp="1"/>
          </p:cNvSpPr>
          <p:nvPr>
            <p:ph type="body" idx="1"/>
          </p:nvPr>
        </p:nvSpPr>
        <p:spPr/>
        <p:txBody>
          <a:bodyPr/>
          <a:lstStyle/>
          <a:p>
            <a:r>
              <a:rPr lang="en-US" dirty="0"/>
              <a:t>Collection of navigational components</a:t>
            </a:r>
          </a:p>
          <a:p>
            <a:r>
              <a:rPr lang="en-US" dirty="0"/>
              <a:t>Enables navigation among views</a:t>
            </a:r>
          </a:p>
          <a:p>
            <a:r>
              <a:rPr lang="en-US" dirty="0"/>
              <a:t>Router components, route matching components and  navigation components</a:t>
            </a:r>
          </a:p>
          <a:p>
            <a:r>
              <a:rPr lang="en-US" dirty="0"/>
              <a:t>Uses a browser-based bookmarkable URLs as an instruction to navigate to a client-generated view in your web app</a:t>
            </a:r>
          </a:p>
          <a:p>
            <a:r>
              <a:rPr lang="en-US" dirty="0"/>
              <a:t>Can also pass along optional parameters</a:t>
            </a:r>
          </a:p>
          <a:p>
            <a:endParaRPr lang="en-US" dirty="0"/>
          </a:p>
        </p:txBody>
      </p:sp>
      <p:sp>
        <p:nvSpPr>
          <p:cNvPr id="4" name="Slide Number Placeholder 3"/>
          <p:cNvSpPr>
            <a:spLocks noGrp="1"/>
          </p:cNvSpPr>
          <p:nvPr>
            <p:ph type="sldNum" idx="12"/>
          </p:nvPr>
        </p:nvSpPr>
        <p:spPr/>
        <p:txBody>
          <a:bodyPr/>
          <a:lstStyle/>
          <a:p>
            <a:fld id="{00000000-1234-1234-1234-123412341234}" type="slidenum">
              <a:rPr lang="en-US" smtClean="0"/>
              <a:pPr/>
              <a:t>3</a:t>
            </a:fld>
            <a:endParaRPr lang="en-US" dirty="0"/>
          </a:p>
        </p:txBody>
      </p:sp>
    </p:spTree>
    <p:extLst>
      <p:ext uri="{BB962C8B-B14F-4D97-AF65-F5344CB8AC3E}">
        <p14:creationId xmlns:p14="http://schemas.microsoft.com/office/powerpoint/2010/main" val="2092694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E88E1-8A76-0645-F085-7ED3E36C7C53}"/>
              </a:ext>
            </a:extLst>
          </p:cNvPr>
          <p:cNvSpPr>
            <a:spLocks noGrp="1"/>
          </p:cNvSpPr>
          <p:nvPr>
            <p:ph type="title"/>
          </p:nvPr>
        </p:nvSpPr>
        <p:spPr>
          <a:xfrm>
            <a:off x="194497" y="722603"/>
            <a:ext cx="11169301" cy="650138"/>
          </a:xfrm>
        </p:spPr>
        <p:txBody>
          <a:bodyPr/>
          <a:lstStyle/>
          <a:p>
            <a:r>
              <a:rPr lang="en-US" dirty="0"/>
              <a:t>Introduction of a Router</a:t>
            </a:r>
          </a:p>
        </p:txBody>
      </p:sp>
      <p:sp>
        <p:nvSpPr>
          <p:cNvPr id="3" name="Text Placeholder 2">
            <a:extLst>
              <a:ext uri="{FF2B5EF4-FFF2-40B4-BE49-F238E27FC236}">
                <a16:creationId xmlns:a16="http://schemas.microsoft.com/office/drawing/2014/main" id="{1504815C-CF37-EBF9-A4C7-310309164C27}"/>
              </a:ext>
            </a:extLst>
          </p:cNvPr>
          <p:cNvSpPr>
            <a:spLocks noGrp="1"/>
          </p:cNvSpPr>
          <p:nvPr>
            <p:ph type="body" idx="1"/>
          </p:nvPr>
        </p:nvSpPr>
        <p:spPr/>
        <p:txBody>
          <a:bodyPr/>
          <a:lstStyle/>
          <a:p>
            <a:r>
              <a:rPr lang="en-US" dirty="0"/>
              <a:t>Almost every web application requires routing: the process of responding to a URL, based on a set of route handler declarations. In other words, this is a mapping from the URL to rendered content.</a:t>
            </a:r>
          </a:p>
          <a:p>
            <a:r>
              <a:rPr lang="en-US" dirty="0"/>
              <a:t>Include:</a:t>
            </a:r>
          </a:p>
          <a:p>
            <a:pPr lvl="1"/>
            <a:r>
              <a:rPr lang="en-US" dirty="0"/>
              <a:t>Declaring routes</a:t>
            </a:r>
          </a:p>
          <a:p>
            <a:pPr lvl="1"/>
            <a:r>
              <a:rPr lang="en-US" dirty="0"/>
              <a:t>Handling route parameters</a:t>
            </a:r>
          </a:p>
          <a:p>
            <a:pPr lvl="1"/>
            <a:r>
              <a:rPr lang="en-US" dirty="0"/>
              <a:t>Using link components</a:t>
            </a:r>
          </a:p>
          <a:p>
            <a:endParaRPr lang="en-US" dirty="0"/>
          </a:p>
        </p:txBody>
      </p:sp>
      <p:sp>
        <p:nvSpPr>
          <p:cNvPr id="4" name="Slide Number Placeholder 3">
            <a:extLst>
              <a:ext uri="{FF2B5EF4-FFF2-40B4-BE49-F238E27FC236}">
                <a16:creationId xmlns:a16="http://schemas.microsoft.com/office/drawing/2014/main" id="{54BA0EE0-CC19-E64E-3A4A-3E5064522110}"/>
              </a:ext>
            </a:extLst>
          </p:cNvPr>
          <p:cNvSpPr>
            <a:spLocks noGrp="1"/>
          </p:cNvSpPr>
          <p:nvPr>
            <p:ph type="sldNum" idx="12"/>
          </p:nvPr>
        </p:nvSpPr>
        <p:spPr/>
        <p:txBody>
          <a:bodyPr/>
          <a:lstStyle/>
          <a:p>
            <a:fld id="{00000000-1234-1234-1234-123412341234}" type="slidenum">
              <a:rPr lang="en-US" smtClean="0"/>
              <a:pPr/>
              <a:t>4</a:t>
            </a:fld>
            <a:endParaRPr lang="en-US" dirty="0"/>
          </a:p>
        </p:txBody>
      </p:sp>
    </p:spTree>
    <p:extLst>
      <p:ext uri="{BB962C8B-B14F-4D97-AF65-F5344CB8AC3E}">
        <p14:creationId xmlns:p14="http://schemas.microsoft.com/office/powerpoint/2010/main" val="1761613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B095-967A-4342-588C-0AA01AB2095B}"/>
              </a:ext>
            </a:extLst>
          </p:cNvPr>
          <p:cNvSpPr>
            <a:spLocks noGrp="1"/>
          </p:cNvSpPr>
          <p:nvPr>
            <p:ph type="title"/>
          </p:nvPr>
        </p:nvSpPr>
        <p:spPr/>
        <p:txBody>
          <a:bodyPr/>
          <a:lstStyle/>
          <a:p>
            <a:r>
              <a:rPr lang="en-US" dirty="0"/>
              <a:t>Client vs. Server Side</a:t>
            </a:r>
          </a:p>
        </p:txBody>
      </p:sp>
      <p:sp>
        <p:nvSpPr>
          <p:cNvPr id="3" name="Text Placeholder 2">
            <a:extLst>
              <a:ext uri="{FF2B5EF4-FFF2-40B4-BE49-F238E27FC236}">
                <a16:creationId xmlns:a16="http://schemas.microsoft.com/office/drawing/2014/main" id="{E3B69226-E1F9-230D-EDCE-043E98B992A3}"/>
              </a:ext>
            </a:extLst>
          </p:cNvPr>
          <p:cNvSpPr>
            <a:spLocks noGrp="1"/>
          </p:cNvSpPr>
          <p:nvPr>
            <p:ph type="body" idx="1"/>
          </p:nvPr>
        </p:nvSpPr>
        <p:spPr>
          <a:xfrm>
            <a:off x="0" y="1627444"/>
            <a:ext cx="8460016" cy="4814445"/>
          </a:xfrm>
        </p:spPr>
        <p:txBody>
          <a:bodyPr/>
          <a:lstStyle/>
          <a:p>
            <a:r>
              <a:rPr lang="en-US" dirty="0"/>
              <a:t>We can’t have a conversation about routing and React Router without mentioning client side and server side. </a:t>
            </a:r>
          </a:p>
          <a:p>
            <a:r>
              <a:rPr lang="en-US" dirty="0"/>
              <a:t>Client side is the browser. Its processing happens on the local machine. </a:t>
            </a:r>
          </a:p>
          <a:p>
            <a:r>
              <a:rPr lang="en-US" dirty="0"/>
              <a:t>Server side is where the information is processed and then sent through to a browser.</a:t>
            </a:r>
          </a:p>
          <a:p>
            <a:endParaRPr lang="en-US" dirty="0"/>
          </a:p>
        </p:txBody>
      </p:sp>
      <p:sp>
        <p:nvSpPr>
          <p:cNvPr id="4" name="Slide Number Placeholder 3">
            <a:extLst>
              <a:ext uri="{FF2B5EF4-FFF2-40B4-BE49-F238E27FC236}">
                <a16:creationId xmlns:a16="http://schemas.microsoft.com/office/drawing/2014/main" id="{9C95EDCE-3A38-31F5-5D06-E0B7C89FE064}"/>
              </a:ext>
            </a:extLst>
          </p:cNvPr>
          <p:cNvSpPr>
            <a:spLocks noGrp="1"/>
          </p:cNvSpPr>
          <p:nvPr>
            <p:ph type="sldNum" idx="12"/>
          </p:nvPr>
        </p:nvSpPr>
        <p:spPr/>
        <p:txBody>
          <a:bodyPr/>
          <a:lstStyle/>
          <a:p>
            <a:fld id="{00000000-1234-1234-1234-123412341234}" type="slidenum">
              <a:rPr lang="en-US" smtClean="0"/>
              <a:pPr/>
              <a:t>5</a:t>
            </a:fld>
            <a:endParaRPr lang="en-US" dirty="0"/>
          </a:p>
        </p:txBody>
      </p:sp>
      <p:pic>
        <p:nvPicPr>
          <p:cNvPr id="5" name="Picture 4" descr="widget">
            <a:extLst>
              <a:ext uri="{FF2B5EF4-FFF2-40B4-BE49-F238E27FC236}">
                <a16:creationId xmlns:a16="http://schemas.microsoft.com/office/drawing/2014/main" id="{28BA9C38-B193-47EB-907F-368B93CCB7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015" r="16477"/>
          <a:stretch/>
        </p:blipFill>
        <p:spPr bwMode="auto">
          <a:xfrm>
            <a:off x="8460016" y="1818254"/>
            <a:ext cx="3530634" cy="2965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62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95861-7A69-42DC-785D-72C7BF0A7AC6}"/>
              </a:ext>
            </a:extLst>
          </p:cNvPr>
          <p:cNvSpPr>
            <a:spLocks noGrp="1"/>
          </p:cNvSpPr>
          <p:nvPr>
            <p:ph type="title"/>
          </p:nvPr>
        </p:nvSpPr>
        <p:spPr/>
        <p:txBody>
          <a:bodyPr/>
          <a:lstStyle/>
          <a:p>
            <a:r>
              <a:rPr lang="en-US" dirty="0"/>
              <a:t>Router components</a:t>
            </a:r>
          </a:p>
        </p:txBody>
      </p:sp>
      <p:sp>
        <p:nvSpPr>
          <p:cNvPr id="3" name="Text Placeholder 2">
            <a:extLst>
              <a:ext uri="{FF2B5EF4-FFF2-40B4-BE49-F238E27FC236}">
                <a16:creationId xmlns:a16="http://schemas.microsoft.com/office/drawing/2014/main" id="{3845313D-A7E6-87FE-FA50-4BE2F446E3A3}"/>
              </a:ext>
            </a:extLst>
          </p:cNvPr>
          <p:cNvSpPr>
            <a:spLocks noGrp="1"/>
          </p:cNvSpPr>
          <p:nvPr>
            <p:ph type="body" idx="1"/>
          </p:nvPr>
        </p:nvSpPr>
        <p:spPr/>
        <p:txBody>
          <a:bodyPr>
            <a:normAutofit fontScale="85000" lnSpcReduction="20000"/>
          </a:bodyPr>
          <a:lstStyle/>
          <a:p>
            <a:r>
              <a:rPr lang="en-US" dirty="0"/>
              <a:t>&lt;</a:t>
            </a:r>
            <a:r>
              <a:rPr lang="en-US" dirty="0" err="1"/>
              <a:t>BrowserRouter</a:t>
            </a:r>
            <a:r>
              <a:rPr lang="en-US" dirty="0"/>
              <a:t>&gt; stores the current location in the browser's address bar using clean URLs and navigates using the browser's built-in history stack.</a:t>
            </a:r>
          </a:p>
          <a:p>
            <a:r>
              <a:rPr lang="en-US" dirty="0"/>
              <a:t>&lt;</a:t>
            </a:r>
            <a:r>
              <a:rPr lang="en-US" dirty="0" err="1"/>
              <a:t>HashRouter</a:t>
            </a:r>
            <a:r>
              <a:rPr lang="en-US" dirty="0"/>
              <a:t>&gt; is for use in web browsers when the URL should not (or cannot) be sent to the server for some reason. This may happen in some shared hosting scenarios where you do not have full control over the server. In these situations, &lt;</a:t>
            </a:r>
            <a:r>
              <a:rPr lang="en-US" dirty="0" err="1"/>
              <a:t>HashRouter</a:t>
            </a:r>
            <a:r>
              <a:rPr lang="en-US" dirty="0"/>
              <a:t>&gt; makes it possible to store the current location in the hash portion of the current URL, so it is never sent to the server.</a:t>
            </a:r>
          </a:p>
          <a:p>
            <a:r>
              <a:rPr lang="en-US" dirty="0"/>
              <a:t>A &lt;</a:t>
            </a:r>
            <a:r>
              <a:rPr lang="en-US" dirty="0" err="1"/>
              <a:t>MemoryRouter</a:t>
            </a:r>
            <a:r>
              <a:rPr lang="en-US" dirty="0"/>
              <a:t>&gt; stores its locations internally in an array. Unlike &lt;</a:t>
            </a:r>
            <a:r>
              <a:rPr lang="en-US" dirty="0" err="1"/>
              <a:t>BrowserHistory</a:t>
            </a:r>
            <a:r>
              <a:rPr lang="en-US" dirty="0"/>
              <a:t>&gt; and &lt;</a:t>
            </a:r>
            <a:r>
              <a:rPr lang="en-US" dirty="0" err="1"/>
              <a:t>HashHistory</a:t>
            </a:r>
            <a:r>
              <a:rPr lang="en-US" dirty="0"/>
              <a:t>&gt;, it isn't tied to an external source, like the history stack in a browser. This makes it ideal for scenarios where you need complete control over the history stack, like testing.</a:t>
            </a:r>
          </a:p>
          <a:p>
            <a:r>
              <a:rPr lang="en-US" dirty="0"/>
              <a:t>&lt;</a:t>
            </a:r>
            <a:r>
              <a:rPr lang="en-US" dirty="0" err="1"/>
              <a:t>StaticRouter</a:t>
            </a:r>
            <a:r>
              <a:rPr lang="en-US" dirty="0"/>
              <a:t>&gt; is used to render a React Router web app in node. Provide the current location via the location prop.</a:t>
            </a:r>
          </a:p>
          <a:p>
            <a:r>
              <a:rPr lang="en-US" dirty="0"/>
              <a:t>&lt;</a:t>
            </a:r>
            <a:r>
              <a:rPr lang="en-US" dirty="0" err="1"/>
              <a:t>NativeRouter</a:t>
            </a:r>
            <a:r>
              <a:rPr lang="en-US" dirty="0"/>
              <a:t>&gt; is the recommended interface for running React Router in a React Native app.</a:t>
            </a:r>
          </a:p>
          <a:p>
            <a:endParaRPr lang="en-US" dirty="0"/>
          </a:p>
          <a:p>
            <a:endParaRPr lang="en-US" dirty="0"/>
          </a:p>
        </p:txBody>
      </p:sp>
      <p:sp>
        <p:nvSpPr>
          <p:cNvPr id="4" name="Slide Number Placeholder 3">
            <a:extLst>
              <a:ext uri="{FF2B5EF4-FFF2-40B4-BE49-F238E27FC236}">
                <a16:creationId xmlns:a16="http://schemas.microsoft.com/office/drawing/2014/main" id="{7010F6F3-5D03-98EC-D956-E3B990DAEF3D}"/>
              </a:ext>
            </a:extLst>
          </p:cNvPr>
          <p:cNvSpPr>
            <a:spLocks noGrp="1"/>
          </p:cNvSpPr>
          <p:nvPr>
            <p:ph type="sldNum" idx="12"/>
          </p:nvPr>
        </p:nvSpPr>
        <p:spPr/>
        <p:txBody>
          <a:bodyPr/>
          <a:lstStyle/>
          <a:p>
            <a:fld id="{00000000-1234-1234-1234-123412341234}" type="slidenum">
              <a:rPr lang="en-US" smtClean="0"/>
              <a:pPr/>
              <a:t>6</a:t>
            </a:fld>
            <a:endParaRPr lang="en-US" dirty="0"/>
          </a:p>
        </p:txBody>
      </p:sp>
    </p:spTree>
    <p:extLst>
      <p:ext uri="{BB962C8B-B14F-4D97-AF65-F5344CB8AC3E}">
        <p14:creationId xmlns:p14="http://schemas.microsoft.com/office/powerpoint/2010/main" val="996334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App Routing – using &lt;</a:t>
            </a:r>
            <a:r>
              <a:rPr lang="en-US" dirty="0" err="1"/>
              <a:t>BrowserRouter</a:t>
            </a:r>
            <a:r>
              <a:rPr lang="en-US" dirty="0"/>
              <a:t>&gt;</a:t>
            </a:r>
          </a:p>
        </p:txBody>
      </p:sp>
      <p:sp>
        <p:nvSpPr>
          <p:cNvPr id="3" name="Text Placeholder 2"/>
          <p:cNvSpPr>
            <a:spLocks noGrp="1"/>
          </p:cNvSpPr>
          <p:nvPr>
            <p:ph type="body" idx="1"/>
          </p:nvPr>
        </p:nvSpPr>
        <p:spPr/>
        <p:txBody>
          <a:bodyPr/>
          <a:lstStyle/>
          <a:p>
            <a:r>
              <a:rPr lang="en-US" dirty="0" err="1"/>
              <a:t>npm</a:t>
            </a:r>
            <a:r>
              <a:rPr lang="en-US" dirty="0"/>
              <a:t> install react-router-</a:t>
            </a:r>
            <a:r>
              <a:rPr lang="en-US" dirty="0" err="1"/>
              <a:t>dom</a:t>
            </a:r>
            <a:endParaRPr lang="en-US" dirty="0"/>
          </a:p>
          <a:p>
            <a:r>
              <a:rPr lang="en-US" dirty="0"/>
              <a:t>Router component: &lt;</a:t>
            </a:r>
            <a:r>
              <a:rPr lang="en-US" dirty="0" err="1"/>
              <a:t>BrowserRouter</a:t>
            </a:r>
            <a:r>
              <a:rPr lang="en-US" dirty="0"/>
              <a:t>&gt;</a:t>
            </a:r>
          </a:p>
          <a:p>
            <a:r>
              <a:rPr lang="en-US" dirty="0"/>
              <a:t>Enclose your app in &lt;</a:t>
            </a:r>
            <a:r>
              <a:rPr lang="en-US" dirty="0" err="1"/>
              <a:t>BrowserRouter</a:t>
            </a:r>
            <a:r>
              <a:rPr lang="en-US" dirty="0"/>
              <a:t>&gt; &lt;/</a:t>
            </a:r>
            <a:r>
              <a:rPr lang="en-US" dirty="0" err="1"/>
              <a:t>BrowserRouter</a:t>
            </a:r>
            <a:r>
              <a:rPr lang="en-US" dirty="0"/>
              <a:t>&gt;</a:t>
            </a:r>
          </a:p>
        </p:txBody>
      </p:sp>
      <p:sp>
        <p:nvSpPr>
          <p:cNvPr id="4" name="Slide Number Placeholder 3"/>
          <p:cNvSpPr>
            <a:spLocks noGrp="1"/>
          </p:cNvSpPr>
          <p:nvPr>
            <p:ph type="sldNum" idx="12"/>
          </p:nvPr>
        </p:nvSpPr>
        <p:spPr/>
        <p:txBody>
          <a:bodyPr/>
          <a:lstStyle/>
          <a:p>
            <a:fld id="{00000000-1234-1234-1234-123412341234}" type="slidenum">
              <a:rPr lang="en-US" smtClean="0"/>
              <a:pPr/>
              <a:t>7</a:t>
            </a:fld>
            <a:endParaRPr lang="en-US" dirty="0"/>
          </a:p>
        </p:txBody>
      </p:sp>
      <p:sp>
        <p:nvSpPr>
          <p:cNvPr id="8" name="TextBox 7">
            <a:extLst>
              <a:ext uri="{FF2B5EF4-FFF2-40B4-BE49-F238E27FC236}">
                <a16:creationId xmlns:a16="http://schemas.microsoft.com/office/drawing/2014/main" id="{69370F3C-7AA8-C28C-82A8-086573D55B13}"/>
              </a:ext>
            </a:extLst>
          </p:cNvPr>
          <p:cNvSpPr txBox="1"/>
          <p:nvPr/>
        </p:nvSpPr>
        <p:spPr>
          <a:xfrm>
            <a:off x="528483" y="3429000"/>
            <a:ext cx="7880554" cy="1170833"/>
          </a:xfrm>
          <a:prstGeom prst="rect">
            <a:avLst/>
          </a:prstGeom>
          <a:solidFill>
            <a:schemeClr val="tx1"/>
          </a:solidFill>
        </p:spPr>
        <p:txBody>
          <a:bodyPr wrap="square">
            <a:spAutoFit/>
          </a:bodyPr>
          <a:lstStyle/>
          <a:p>
            <a:pPr>
              <a:lnSpc>
                <a:spcPts val="1425"/>
              </a:lnSpc>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err="1">
                <a:solidFill>
                  <a:srgbClr val="9CDCFE"/>
                </a:solidFill>
                <a:effectLst/>
                <a:latin typeface="Consolas" panose="020B0609020204030204" pitchFamily="49" charset="0"/>
              </a:rPr>
              <a:t>BrowserRouter</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pPr>
            <a:endParaRPr lang="en-US" b="0" dirty="0">
              <a:solidFill>
                <a:srgbClr val="808080"/>
              </a:solidFill>
              <a:effectLst/>
              <a:latin typeface="Consolas" panose="020B0609020204030204" pitchFamily="49" charset="0"/>
            </a:endParaRPr>
          </a:p>
          <a:p>
            <a:pPr>
              <a:lnSpc>
                <a:spcPts val="1425"/>
              </a:lnSpc>
            </a:pPr>
            <a:endParaRPr lang="en-US" dirty="0">
              <a:solidFill>
                <a:srgbClr val="808080"/>
              </a:solidFill>
              <a:latin typeface="Consolas" panose="020B0609020204030204" pitchFamily="49" charset="0"/>
            </a:endParaRPr>
          </a:p>
          <a:p>
            <a:pPr>
              <a:lnSpc>
                <a:spcPts val="1425"/>
              </a:lnSpc>
            </a:pP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BrowserRouter</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App</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dirty="0">
              <a:solidFill>
                <a:srgbClr val="CCCCCC"/>
              </a:solidFill>
              <a:latin typeface="Consolas" panose="020B0609020204030204" pitchFamily="49" charset="0"/>
            </a:endParaRPr>
          </a:p>
          <a:p>
            <a:pPr>
              <a:lnSpc>
                <a:spcPts val="1425"/>
              </a:lnSpc>
            </a:pP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BrowserRouter</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4132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C54B-47FB-C487-4F8F-139856D221B2}"/>
              </a:ext>
            </a:extLst>
          </p:cNvPr>
          <p:cNvSpPr>
            <a:spLocks noGrp="1"/>
          </p:cNvSpPr>
          <p:nvPr>
            <p:ph type="title"/>
          </p:nvPr>
        </p:nvSpPr>
        <p:spPr/>
        <p:txBody>
          <a:bodyPr/>
          <a:lstStyle/>
          <a:p>
            <a:r>
              <a:rPr lang="en-US" dirty="0"/>
              <a:t>Route Matching</a:t>
            </a:r>
          </a:p>
        </p:txBody>
      </p:sp>
      <p:sp>
        <p:nvSpPr>
          <p:cNvPr id="3" name="Text Placeholder 2">
            <a:extLst>
              <a:ext uri="{FF2B5EF4-FFF2-40B4-BE49-F238E27FC236}">
                <a16:creationId xmlns:a16="http://schemas.microsoft.com/office/drawing/2014/main" id="{741215A6-8F00-C09B-3848-0B1C8817C970}"/>
              </a:ext>
            </a:extLst>
          </p:cNvPr>
          <p:cNvSpPr>
            <a:spLocks noGrp="1"/>
          </p:cNvSpPr>
          <p:nvPr>
            <p:ph type="body" idx="1"/>
          </p:nvPr>
        </p:nvSpPr>
        <p:spPr/>
        <p:txBody>
          <a:bodyPr/>
          <a:lstStyle/>
          <a:p>
            <a:r>
              <a:rPr lang="en-US" dirty="0"/>
              <a:t>Route matching components: &lt;Routes&gt; and &lt;Route&gt;</a:t>
            </a:r>
          </a:p>
          <a:p>
            <a:r>
              <a:rPr lang="en-US" dirty="0"/>
              <a:t>&lt;Route&gt;’s path prop enables specification of the current location’s  pathname</a:t>
            </a:r>
          </a:p>
          <a:p>
            <a:r>
              <a:rPr lang="en-US" dirty="0"/>
              <a:t>&lt;Route&gt;’s component prop specifies the corresponding view for the location</a:t>
            </a:r>
          </a:p>
          <a:p>
            <a:r>
              <a:rPr lang="en-US" dirty="0"/>
              <a:t>Using exact attribute ensures that the path must be exactly matched</a:t>
            </a:r>
          </a:p>
          <a:p>
            <a:r>
              <a:rPr lang="en-US" dirty="0"/>
              <a:t>&lt;Route&gt; enables grouping together several routes</a:t>
            </a:r>
          </a:p>
          <a:p>
            <a:r>
              <a:rPr lang="en-US" dirty="0"/>
              <a:t>Syntax: &lt;Route path='/' element={component}&gt;&lt;/Route&gt;</a:t>
            </a:r>
          </a:p>
          <a:p>
            <a:pPr marL="3175" indent="0">
              <a:buNone/>
            </a:pPr>
            <a:r>
              <a:rPr lang="en-US" sz="1400" b="0" dirty="0">
                <a:solidFill>
                  <a:srgbClr val="C586C0"/>
                </a:solidFill>
                <a:effectLst/>
                <a:latin typeface="Consolas" panose="020B0609020204030204" pitchFamily="49" charset="0"/>
              </a:rPr>
              <a:t>	</a:t>
            </a:r>
            <a:r>
              <a:rPr lang="en-US" sz="1600" b="0" dirty="0">
                <a:solidFill>
                  <a:srgbClr val="C586C0"/>
                </a:solidFill>
                <a:effectLst/>
                <a:latin typeface="Consolas" panose="020B0609020204030204" pitchFamily="49" charset="0"/>
              </a:rPr>
              <a:t>import</a:t>
            </a:r>
            <a:r>
              <a:rPr lang="en-US" sz="1600" b="0" dirty="0">
                <a:solidFill>
                  <a:srgbClr val="CCCCCC"/>
                </a:solidFill>
                <a:effectLst/>
                <a:latin typeface="Consolas" panose="020B0609020204030204" pitchFamily="49" charset="0"/>
              </a:rPr>
              <a:t> { </a:t>
            </a:r>
            <a:r>
              <a:rPr lang="en-US" sz="1600" b="0" dirty="0">
                <a:solidFill>
                  <a:srgbClr val="9CDCFE"/>
                </a:solidFill>
                <a:effectLst/>
                <a:latin typeface="Consolas" panose="020B0609020204030204" pitchFamily="49" charset="0"/>
              </a:rPr>
              <a:t>Routes</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Route</a:t>
            </a:r>
            <a:r>
              <a:rPr lang="en-US" sz="1600" b="0" dirty="0">
                <a:solidFill>
                  <a:srgbClr val="CCCCCC"/>
                </a:solidFill>
                <a:effectLst/>
                <a:latin typeface="Consolas" panose="020B0609020204030204" pitchFamily="49" charset="0"/>
              </a:rPr>
              <a:t> } </a:t>
            </a:r>
            <a:r>
              <a:rPr lang="en-US" sz="1600" b="0" dirty="0">
                <a:solidFill>
                  <a:srgbClr val="C586C0"/>
                </a:solidFill>
                <a:effectLst/>
                <a:latin typeface="Consolas" panose="020B0609020204030204" pitchFamily="49" charset="0"/>
              </a:rPr>
              <a:t>from</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"react-router-</a:t>
            </a:r>
            <a:r>
              <a:rPr lang="en-US" sz="1600" b="0" dirty="0" err="1">
                <a:solidFill>
                  <a:srgbClr val="CE9178"/>
                </a:solidFill>
                <a:effectLst/>
                <a:latin typeface="Consolas" panose="020B0609020204030204" pitchFamily="49" charset="0"/>
              </a:rPr>
              <a:t>dom</a:t>
            </a:r>
            <a:r>
              <a:rPr lang="en-US" sz="1600" b="0" dirty="0">
                <a:solidFill>
                  <a:srgbClr val="CE9178"/>
                </a:solidFill>
                <a:effectLst/>
                <a:latin typeface="Consolas" panose="020B0609020204030204" pitchFamily="49" charset="0"/>
              </a:rPr>
              <a:t>"</a:t>
            </a:r>
            <a:r>
              <a:rPr lang="en-US" sz="1600" b="0" dirty="0">
                <a:solidFill>
                  <a:srgbClr val="CCCCCC"/>
                </a:solidFill>
                <a:effectLst/>
                <a:latin typeface="Consolas" panose="020B0609020204030204" pitchFamily="49" charset="0"/>
              </a:rPr>
              <a:t>;</a:t>
            </a:r>
          </a:p>
          <a:p>
            <a:pPr marL="1028700" lvl="2" indent="0">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4EC9B0"/>
                </a:solidFill>
                <a:effectLst/>
                <a:latin typeface="Consolas" panose="020B0609020204030204" pitchFamily="49" charset="0"/>
              </a:rPr>
              <a:t>Routes</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marL="1028700" lvl="2"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4EC9B0"/>
                </a:solidFill>
                <a:effectLst/>
                <a:latin typeface="Consolas" panose="020B0609020204030204" pitchFamily="49" charset="0"/>
              </a:rPr>
              <a:t>Route</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path</a:t>
            </a:r>
            <a:r>
              <a:rPr lang="en-US" sz="1600" b="0" dirty="0">
                <a:solidFill>
                  <a:srgbClr val="D4D4D4"/>
                </a:solidFill>
                <a:effectLst/>
                <a:latin typeface="Consolas" panose="020B0609020204030204" pitchFamily="49" charset="0"/>
              </a:rPr>
              <a:t>=</a:t>
            </a:r>
            <a:r>
              <a:rPr lang="en-US" sz="1600" b="0" dirty="0">
                <a:solidFill>
                  <a:srgbClr val="CE9178"/>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element</a:t>
            </a:r>
            <a:r>
              <a:rPr lang="en-US" sz="1600" b="0" dirty="0">
                <a:solidFill>
                  <a:srgbClr val="D4D4D4"/>
                </a:solidFill>
                <a:effectLst/>
                <a:latin typeface="Consolas" panose="020B0609020204030204" pitchFamily="49" charset="0"/>
              </a:rPr>
              <a:t>=</a:t>
            </a:r>
            <a:r>
              <a:rPr lang="en-US" sz="1600" b="0" dirty="0">
                <a:solidFill>
                  <a:srgbClr val="569CD6"/>
                </a:solidFill>
                <a:effectLst/>
                <a:latin typeface="Consolas" panose="020B0609020204030204" pitchFamily="49" charset="0"/>
              </a:rPr>
              <a:t>{</a:t>
            </a:r>
            <a:r>
              <a:rPr lang="en-US" sz="1600" b="0" dirty="0">
                <a:solidFill>
                  <a:srgbClr val="808080"/>
                </a:solidFill>
                <a:effectLst/>
                <a:latin typeface="Consolas" panose="020B0609020204030204" pitchFamily="49" charset="0"/>
              </a:rPr>
              <a:t>&lt;</a:t>
            </a:r>
            <a:r>
              <a:rPr lang="en-US" sz="1600" b="0" dirty="0">
                <a:solidFill>
                  <a:srgbClr val="4EC9B0"/>
                </a:solidFill>
                <a:effectLst/>
                <a:latin typeface="Consolas" panose="020B0609020204030204" pitchFamily="49" charset="0"/>
              </a:rPr>
              <a:t>Orchids</a:t>
            </a:r>
            <a:r>
              <a:rPr lang="en-US" sz="1600" b="0" dirty="0">
                <a:solidFill>
                  <a:srgbClr val="808080"/>
                </a:solidFill>
                <a:effectLst/>
                <a:latin typeface="Consolas" panose="020B0609020204030204" pitchFamily="49" charset="0"/>
              </a:rPr>
              <a:t>/&gt;</a:t>
            </a:r>
            <a:r>
              <a:rPr lang="en-US" sz="1600" b="0" dirty="0">
                <a:solidFill>
                  <a:srgbClr val="569CD6"/>
                </a:solidFill>
                <a:effectLst/>
                <a:latin typeface="Consolas" panose="020B0609020204030204" pitchFamily="49" charset="0"/>
              </a:rPr>
              <a:t>}</a:t>
            </a:r>
            <a:r>
              <a:rPr lang="en-US" sz="1600" b="0" dirty="0">
                <a:solidFill>
                  <a:srgbClr val="808080"/>
                </a:solidFill>
                <a:effectLst/>
                <a:latin typeface="Consolas" panose="020B0609020204030204" pitchFamily="49" charset="0"/>
              </a:rPr>
              <a:t>&gt;&lt;/</a:t>
            </a:r>
            <a:r>
              <a:rPr lang="en-US" sz="1600" b="0" dirty="0">
                <a:solidFill>
                  <a:srgbClr val="4EC9B0"/>
                </a:solidFill>
                <a:effectLst/>
                <a:latin typeface="Consolas" panose="020B0609020204030204" pitchFamily="49" charset="0"/>
              </a:rPr>
              <a:t>Route</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marL="1028700" lvl="2"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4EC9B0"/>
                </a:solidFill>
                <a:effectLst/>
                <a:latin typeface="Consolas" panose="020B0609020204030204" pitchFamily="49" charset="0"/>
              </a:rPr>
              <a:t>Route</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path</a:t>
            </a:r>
            <a:r>
              <a:rPr lang="en-US" sz="1600" b="0" dirty="0">
                <a:solidFill>
                  <a:srgbClr val="D4D4D4"/>
                </a:solidFill>
                <a:effectLst/>
                <a:latin typeface="Consolas" panose="020B0609020204030204" pitchFamily="49" charset="0"/>
              </a:rPr>
              <a:t>=</a:t>
            </a:r>
            <a:r>
              <a:rPr lang="en-US" sz="1600" b="0" dirty="0">
                <a:solidFill>
                  <a:srgbClr val="CE9178"/>
                </a:solidFill>
                <a:effectLst/>
                <a:latin typeface="Consolas" panose="020B0609020204030204" pitchFamily="49" charset="0"/>
              </a:rPr>
              <a:t>'/detail/:</a:t>
            </a:r>
            <a:r>
              <a:rPr lang="en-US" sz="1600" b="0" dirty="0" err="1">
                <a:solidFill>
                  <a:srgbClr val="CE9178"/>
                </a:solidFill>
                <a:effectLst/>
                <a:latin typeface="Consolas" panose="020B0609020204030204" pitchFamily="49" charset="0"/>
              </a:rPr>
              <a:t>id'</a:t>
            </a:r>
            <a:r>
              <a:rPr lang="en-US" sz="1600" b="0" dirty="0" err="1">
                <a:solidFill>
                  <a:srgbClr val="9CDCFE"/>
                </a:solidFill>
                <a:effectLst/>
                <a:latin typeface="Consolas" panose="020B0609020204030204" pitchFamily="49" charset="0"/>
              </a:rPr>
              <a:t>element</a:t>
            </a:r>
            <a:r>
              <a:rPr lang="en-US" sz="1600" b="0" dirty="0">
                <a:solidFill>
                  <a:srgbClr val="D4D4D4"/>
                </a:solidFill>
                <a:effectLst/>
                <a:latin typeface="Consolas" panose="020B0609020204030204" pitchFamily="49" charset="0"/>
              </a:rPr>
              <a:t>=</a:t>
            </a:r>
            <a:r>
              <a:rPr lang="en-US" sz="1600" b="0" dirty="0">
                <a:solidFill>
                  <a:srgbClr val="569CD6"/>
                </a:solidFill>
                <a:effectLst/>
                <a:latin typeface="Consolas" panose="020B0609020204030204" pitchFamily="49" charset="0"/>
              </a:rPr>
              <a:t>{</a:t>
            </a:r>
            <a:r>
              <a:rPr lang="en-US" sz="1600" b="0" dirty="0">
                <a:solidFill>
                  <a:srgbClr val="808080"/>
                </a:solidFill>
                <a:effectLst/>
                <a:latin typeface="Consolas" panose="020B0609020204030204" pitchFamily="49" charset="0"/>
              </a:rPr>
              <a:t>&lt;</a:t>
            </a:r>
            <a:r>
              <a:rPr lang="en-US" sz="1600" dirty="0" err="1">
                <a:solidFill>
                  <a:srgbClr val="4EC9B0"/>
                </a:solidFill>
                <a:latin typeface="Consolas" panose="020B0609020204030204" pitchFamily="49" charset="0"/>
              </a:rPr>
              <a:t>OrchidDetail</a:t>
            </a:r>
            <a:r>
              <a:rPr lang="en-US" sz="1600" b="0" dirty="0">
                <a:solidFill>
                  <a:srgbClr val="808080"/>
                </a:solidFill>
                <a:effectLst/>
                <a:latin typeface="Consolas" panose="020B0609020204030204" pitchFamily="49" charset="0"/>
              </a:rPr>
              <a:t>/&gt;</a:t>
            </a:r>
            <a:r>
              <a:rPr lang="en-US" sz="1600" b="0" dirty="0">
                <a:solidFill>
                  <a:srgbClr val="569CD6"/>
                </a:solidFill>
                <a:effectLst/>
                <a:latin typeface="Consolas" panose="020B0609020204030204" pitchFamily="49" charset="0"/>
              </a:rPr>
              <a:t>}</a:t>
            </a:r>
            <a:r>
              <a:rPr lang="en-US" sz="1600" b="0" dirty="0">
                <a:solidFill>
                  <a:srgbClr val="808080"/>
                </a:solidFill>
                <a:effectLst/>
                <a:latin typeface="Consolas" panose="020B0609020204030204" pitchFamily="49" charset="0"/>
              </a:rPr>
              <a:t>&gt;&lt;/</a:t>
            </a:r>
            <a:r>
              <a:rPr lang="en-US" sz="1600" b="0" dirty="0">
                <a:solidFill>
                  <a:srgbClr val="4EC9B0"/>
                </a:solidFill>
                <a:effectLst/>
                <a:latin typeface="Consolas" panose="020B0609020204030204" pitchFamily="49" charset="0"/>
              </a:rPr>
              <a:t>Route</a:t>
            </a:r>
            <a:r>
              <a:rPr lang="en-US" sz="1600" b="0" dirty="0">
                <a:solidFill>
                  <a:srgbClr val="808080"/>
                </a:solidFill>
                <a:effectLst/>
                <a:latin typeface="Consolas" panose="020B0609020204030204" pitchFamily="49" charset="0"/>
              </a:rPr>
              <a:t>&gt;</a:t>
            </a:r>
          </a:p>
          <a:p>
            <a:pPr marL="1028700" lvl="2" indent="0">
              <a:lnSpc>
                <a:spcPts val="1425"/>
              </a:lnSpc>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4EC9B0"/>
                </a:solidFill>
                <a:effectLst/>
                <a:latin typeface="Consolas" panose="020B0609020204030204" pitchFamily="49" charset="0"/>
              </a:rPr>
              <a:t>Routes</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marL="3175" indent="0">
              <a:buNone/>
            </a:pPr>
            <a:endParaRPr lang="en-US" b="0" dirty="0">
              <a:solidFill>
                <a:srgbClr val="CCCCCC"/>
              </a:solidFill>
              <a:effectLst/>
              <a:latin typeface="Consolas" panose="020B0609020204030204" pitchFamily="49" charset="0"/>
            </a:endParaRPr>
          </a:p>
          <a:p>
            <a:pPr marL="3175" indent="0">
              <a:buNone/>
            </a:pPr>
            <a:endParaRPr lang="en-US" b="0" dirty="0">
              <a:solidFill>
                <a:srgbClr val="CCCCCC"/>
              </a:solidFill>
              <a:effectLst/>
              <a:latin typeface="Consolas" panose="020B0609020204030204" pitchFamily="49" charset="0"/>
            </a:endParaRPr>
          </a:p>
          <a:p>
            <a:pPr marL="3175" indent="0">
              <a:buNone/>
            </a:pPr>
            <a:endParaRPr lang="en-US" dirty="0"/>
          </a:p>
          <a:p>
            <a:endParaRPr lang="en-US" dirty="0"/>
          </a:p>
        </p:txBody>
      </p:sp>
      <p:sp>
        <p:nvSpPr>
          <p:cNvPr id="4" name="Slide Number Placeholder 3">
            <a:extLst>
              <a:ext uri="{FF2B5EF4-FFF2-40B4-BE49-F238E27FC236}">
                <a16:creationId xmlns:a16="http://schemas.microsoft.com/office/drawing/2014/main" id="{147021CD-DFBF-56BA-52D3-2F379C287D5D}"/>
              </a:ext>
            </a:extLst>
          </p:cNvPr>
          <p:cNvSpPr>
            <a:spLocks noGrp="1"/>
          </p:cNvSpPr>
          <p:nvPr>
            <p:ph type="sldNum" idx="12"/>
          </p:nvPr>
        </p:nvSpPr>
        <p:spPr/>
        <p:txBody>
          <a:bodyPr/>
          <a:lstStyle/>
          <a:p>
            <a:fld id="{00000000-1234-1234-1234-123412341234}" type="slidenum">
              <a:rPr lang="en-US" smtClean="0"/>
              <a:pPr/>
              <a:t>8</a:t>
            </a:fld>
            <a:endParaRPr lang="en-US" dirty="0"/>
          </a:p>
        </p:txBody>
      </p:sp>
    </p:spTree>
    <p:extLst>
      <p:ext uri="{BB962C8B-B14F-4D97-AF65-F5344CB8AC3E}">
        <p14:creationId xmlns:p14="http://schemas.microsoft.com/office/powerpoint/2010/main" val="48960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0FA1A-332C-AA39-0549-D42605F1499E}"/>
              </a:ext>
            </a:extLst>
          </p:cNvPr>
          <p:cNvSpPr>
            <a:spLocks noGrp="1"/>
          </p:cNvSpPr>
          <p:nvPr>
            <p:ph type="title"/>
          </p:nvPr>
        </p:nvSpPr>
        <p:spPr/>
        <p:txBody>
          <a:bodyPr/>
          <a:lstStyle/>
          <a:p>
            <a:r>
              <a:rPr lang="en-US" dirty="0"/>
              <a:t>&lt;Routes&gt; component</a:t>
            </a:r>
          </a:p>
        </p:txBody>
      </p:sp>
      <p:sp>
        <p:nvSpPr>
          <p:cNvPr id="3" name="Text Placeholder 2">
            <a:extLst>
              <a:ext uri="{FF2B5EF4-FFF2-40B4-BE49-F238E27FC236}">
                <a16:creationId xmlns:a16="http://schemas.microsoft.com/office/drawing/2014/main" id="{EA06FD23-C638-F09D-0814-B561408308C9}"/>
              </a:ext>
            </a:extLst>
          </p:cNvPr>
          <p:cNvSpPr>
            <a:spLocks noGrp="1"/>
          </p:cNvSpPr>
          <p:nvPr>
            <p:ph type="body" idx="1"/>
          </p:nvPr>
        </p:nvSpPr>
        <p:spPr>
          <a:xfrm>
            <a:off x="0" y="1627444"/>
            <a:ext cx="12192000" cy="3010657"/>
          </a:xfrm>
        </p:spPr>
        <p:txBody>
          <a:bodyPr/>
          <a:lstStyle/>
          <a:p>
            <a:r>
              <a:rPr lang="en-US" dirty="0"/>
              <a:t>Rendered anywhere in the app, &lt;Routes&gt; will match a set of child routes from the current location.</a:t>
            </a:r>
          </a:p>
          <a:p>
            <a:r>
              <a:rPr lang="en-US" dirty="0"/>
              <a:t>Whenever the location changes, &lt;Routes&gt; looks through all its child routes to find the best match and renders that branch of the UI. &lt;Route&gt; elements may be nested to indicate nested UI, which also correspond to nested URL paths</a:t>
            </a:r>
          </a:p>
          <a:p>
            <a:endParaRPr lang="en-US" dirty="0"/>
          </a:p>
        </p:txBody>
      </p:sp>
      <p:sp>
        <p:nvSpPr>
          <p:cNvPr id="4" name="Slide Number Placeholder 3">
            <a:extLst>
              <a:ext uri="{FF2B5EF4-FFF2-40B4-BE49-F238E27FC236}">
                <a16:creationId xmlns:a16="http://schemas.microsoft.com/office/drawing/2014/main" id="{B6648D96-A866-29F3-B399-C18FED2343EE}"/>
              </a:ext>
            </a:extLst>
          </p:cNvPr>
          <p:cNvSpPr>
            <a:spLocks noGrp="1"/>
          </p:cNvSpPr>
          <p:nvPr>
            <p:ph type="sldNum" idx="12"/>
          </p:nvPr>
        </p:nvSpPr>
        <p:spPr/>
        <p:txBody>
          <a:bodyPr/>
          <a:lstStyle/>
          <a:p>
            <a:fld id="{00000000-1234-1234-1234-123412341234}" type="slidenum">
              <a:rPr lang="en-US" smtClean="0"/>
              <a:pPr/>
              <a:t>9</a:t>
            </a:fld>
            <a:endParaRPr lang="en-US" dirty="0"/>
          </a:p>
        </p:txBody>
      </p:sp>
      <p:sp>
        <p:nvSpPr>
          <p:cNvPr id="6" name="TextBox 5">
            <a:extLst>
              <a:ext uri="{FF2B5EF4-FFF2-40B4-BE49-F238E27FC236}">
                <a16:creationId xmlns:a16="http://schemas.microsoft.com/office/drawing/2014/main" id="{43D75512-E7E8-74F4-D827-5B7DC7D85D45}"/>
              </a:ext>
            </a:extLst>
          </p:cNvPr>
          <p:cNvSpPr txBox="1"/>
          <p:nvPr/>
        </p:nvSpPr>
        <p:spPr>
          <a:xfrm>
            <a:off x="5844896" y="4157799"/>
            <a:ext cx="6055559" cy="1888979"/>
          </a:xfrm>
          <a:prstGeom prst="rect">
            <a:avLst/>
          </a:prstGeom>
          <a:solidFill>
            <a:schemeClr val="tx1"/>
          </a:solidFill>
        </p:spPr>
        <p:txBody>
          <a:bodyPr wrap="square">
            <a:spAutoFit/>
          </a:bodyPr>
          <a:lstStyle/>
          <a:p>
            <a:pPr>
              <a:lnSpc>
                <a:spcPts val="1425"/>
              </a:lnSpc>
              <a:buNone/>
            </a:pP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Routes</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Dashboard</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"messages"</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DashboardMessages</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"tasks"</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DashboardTasks</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"about"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AboutPage</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Routes</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997935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1557F-87D2-45FD-6C5B-22555CC2BB0F}"/>
              </a:ext>
            </a:extLst>
          </p:cNvPr>
          <p:cNvSpPr>
            <a:spLocks noGrp="1"/>
          </p:cNvSpPr>
          <p:nvPr>
            <p:ph type="title"/>
          </p:nvPr>
        </p:nvSpPr>
        <p:spPr/>
        <p:txBody>
          <a:bodyPr/>
          <a:lstStyle/>
          <a:p>
            <a:r>
              <a:rPr lang="en-US" dirty="0"/>
              <a:t>&lt;Outlet&gt; component</a:t>
            </a:r>
          </a:p>
        </p:txBody>
      </p:sp>
      <p:sp>
        <p:nvSpPr>
          <p:cNvPr id="3" name="Text Placeholder 2">
            <a:extLst>
              <a:ext uri="{FF2B5EF4-FFF2-40B4-BE49-F238E27FC236}">
                <a16:creationId xmlns:a16="http://schemas.microsoft.com/office/drawing/2014/main" id="{FC7E6FF7-75A8-3031-2126-3708E6A13984}"/>
              </a:ext>
            </a:extLst>
          </p:cNvPr>
          <p:cNvSpPr>
            <a:spLocks noGrp="1"/>
          </p:cNvSpPr>
          <p:nvPr>
            <p:ph type="body" idx="1"/>
          </p:nvPr>
        </p:nvSpPr>
        <p:spPr>
          <a:xfrm>
            <a:off x="0" y="1627444"/>
            <a:ext cx="5133860" cy="4387766"/>
          </a:xfrm>
        </p:spPr>
        <p:txBody>
          <a:bodyPr>
            <a:normAutofit fontScale="92500"/>
          </a:bodyPr>
          <a:lstStyle/>
          <a:p>
            <a:r>
              <a:rPr lang="en-US" dirty="0"/>
              <a:t>An &lt;Outlet&gt; should be used in parent route elements to render their child route elements. This allows nested UI to show up when child routes are rendered. If the parent route matched exactly, it will render a child index route or nothing if there is no index route.</a:t>
            </a:r>
          </a:p>
        </p:txBody>
      </p:sp>
      <p:sp>
        <p:nvSpPr>
          <p:cNvPr id="4" name="Slide Number Placeholder 3">
            <a:extLst>
              <a:ext uri="{FF2B5EF4-FFF2-40B4-BE49-F238E27FC236}">
                <a16:creationId xmlns:a16="http://schemas.microsoft.com/office/drawing/2014/main" id="{1B99B977-9250-153E-7ED9-58D2EDA8BD7B}"/>
              </a:ext>
            </a:extLst>
          </p:cNvPr>
          <p:cNvSpPr>
            <a:spLocks noGrp="1"/>
          </p:cNvSpPr>
          <p:nvPr>
            <p:ph type="sldNum" idx="12"/>
          </p:nvPr>
        </p:nvSpPr>
        <p:spPr/>
        <p:txBody>
          <a:bodyPr/>
          <a:lstStyle/>
          <a:p>
            <a:fld id="{00000000-1234-1234-1234-123412341234}" type="slidenum">
              <a:rPr lang="en-US" smtClean="0"/>
              <a:pPr/>
              <a:t>10</a:t>
            </a:fld>
            <a:endParaRPr lang="en-US" dirty="0"/>
          </a:p>
        </p:txBody>
      </p:sp>
      <p:sp>
        <p:nvSpPr>
          <p:cNvPr id="6" name="TextBox 5">
            <a:extLst>
              <a:ext uri="{FF2B5EF4-FFF2-40B4-BE49-F238E27FC236}">
                <a16:creationId xmlns:a16="http://schemas.microsoft.com/office/drawing/2014/main" id="{929EAC1F-3FED-C22C-11A5-E34EE68FB8E1}"/>
              </a:ext>
            </a:extLst>
          </p:cNvPr>
          <p:cNvSpPr txBox="1"/>
          <p:nvPr/>
        </p:nvSpPr>
        <p:spPr>
          <a:xfrm>
            <a:off x="5321147" y="1519838"/>
            <a:ext cx="6870853" cy="4941096"/>
          </a:xfrm>
          <a:prstGeom prst="rect">
            <a:avLst/>
          </a:prstGeom>
          <a:solidFill>
            <a:schemeClr val="tx1"/>
          </a:solidFill>
        </p:spPr>
        <p:txBody>
          <a:bodyPr wrap="square">
            <a:spAutoFit/>
          </a:bodyPr>
          <a:lstStyle/>
          <a:p>
            <a:pPr>
              <a:lnSpc>
                <a:spcPts val="1425"/>
              </a:lnSpc>
              <a:buNone/>
            </a:pP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Dashboard</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h1</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Dashboard</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h1</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6A9955"/>
                </a:solidFill>
                <a:effectLst/>
                <a:latin typeface="Consolas" panose="020B0609020204030204" pitchFamily="49" charset="0"/>
              </a:rPr>
              <a:t>/* This element will render either &lt;</a:t>
            </a:r>
            <a:r>
              <a:rPr lang="en-US" b="0" dirty="0" err="1">
                <a:solidFill>
                  <a:srgbClr val="6A9955"/>
                </a:solidFill>
                <a:effectLst/>
                <a:latin typeface="Consolas" panose="020B0609020204030204" pitchFamily="49" charset="0"/>
              </a:rPr>
              <a:t>DashboardMessages</a:t>
            </a:r>
            <a:r>
              <a:rPr lang="en-US" b="0" dirty="0">
                <a:solidFill>
                  <a:srgbClr val="6A9955"/>
                </a:solidFill>
                <a:effectLst/>
                <a:latin typeface="Consolas" panose="020B0609020204030204" pitchFamily="49" charset="0"/>
              </a:rPr>
              <a:t>&gt; when the URL is "/messages", &lt;</a:t>
            </a:r>
            <a:r>
              <a:rPr lang="en-US" b="0" dirty="0" err="1">
                <a:solidFill>
                  <a:srgbClr val="6A9955"/>
                </a:solidFill>
                <a:effectLst/>
                <a:latin typeface="Consolas" panose="020B0609020204030204" pitchFamily="49" charset="0"/>
              </a:rPr>
              <a:t>DashboardTasks</a:t>
            </a:r>
            <a:r>
              <a:rPr lang="en-US" b="0" dirty="0">
                <a:solidFill>
                  <a:srgbClr val="6A9955"/>
                </a:solidFill>
                <a:effectLst/>
                <a:latin typeface="Consolas" panose="020B0609020204030204" pitchFamily="49" charset="0"/>
              </a:rPr>
              <a:t>&gt; at "/tasks", or null if it is "/"</a:t>
            </a:r>
            <a:endParaRPr lang="en-US" b="0" dirty="0">
              <a:solidFill>
                <a:srgbClr val="CCCCCC"/>
              </a:solidFill>
              <a:effectLst/>
              <a:latin typeface="Consolas" panose="020B0609020204030204" pitchFamily="49" charset="0"/>
            </a:endParaRPr>
          </a:p>
          <a:p>
            <a:pPr>
              <a:lnSpc>
                <a:spcPts val="1425"/>
              </a:lnSpc>
              <a:buNone/>
            </a:pPr>
            <a:r>
              <a:rPr lang="en-US" b="0" dirty="0">
                <a:solidFill>
                  <a:srgbClr val="6A9955"/>
                </a:solidFill>
                <a:effectLst/>
                <a:latin typeface="Consolas" panose="020B0609020204030204" pitchFamily="49" charset="0"/>
              </a:rPr>
              <a:t>      */</a:t>
            </a:r>
            <a:r>
              <a:rPr lang="en-US" b="0" dirty="0">
                <a:solidFill>
                  <a:srgbClr val="569CD6"/>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Outlet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App</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Routes</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Dashboard</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"messages"</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DashboardMessages</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"tasks"</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DashboardTasks</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Routes</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44296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C3BA3-E7C9-9702-E659-AB8CA4602C22}"/>
              </a:ext>
            </a:extLst>
          </p:cNvPr>
          <p:cNvSpPr>
            <a:spLocks noGrp="1"/>
          </p:cNvSpPr>
          <p:nvPr>
            <p:ph type="title"/>
          </p:nvPr>
        </p:nvSpPr>
        <p:spPr/>
        <p:txBody>
          <a:bodyPr/>
          <a:lstStyle/>
          <a:p>
            <a:r>
              <a:rPr lang="en-US"/>
              <a:t>&lt;Link&gt; component</a:t>
            </a:r>
            <a:endParaRPr lang="en-US" dirty="0"/>
          </a:p>
        </p:txBody>
      </p:sp>
      <p:sp>
        <p:nvSpPr>
          <p:cNvPr id="3" name="Text Placeholder 2">
            <a:extLst>
              <a:ext uri="{FF2B5EF4-FFF2-40B4-BE49-F238E27FC236}">
                <a16:creationId xmlns:a16="http://schemas.microsoft.com/office/drawing/2014/main" id="{32397EDC-0A2A-7D1C-9F83-94CCCC4D3F4B}"/>
              </a:ext>
            </a:extLst>
          </p:cNvPr>
          <p:cNvSpPr>
            <a:spLocks noGrp="1"/>
          </p:cNvSpPr>
          <p:nvPr>
            <p:ph type="body" idx="1"/>
          </p:nvPr>
        </p:nvSpPr>
        <p:spPr>
          <a:xfrm>
            <a:off x="1" y="1627444"/>
            <a:ext cx="6433850" cy="4571453"/>
          </a:xfrm>
        </p:spPr>
        <p:txBody>
          <a:bodyPr>
            <a:normAutofit fontScale="92500" lnSpcReduction="10000"/>
          </a:bodyPr>
          <a:lstStyle/>
          <a:p>
            <a:r>
              <a:rPr lang="en-US" dirty="0"/>
              <a:t>A &lt;Link&gt; is an element that lets the user navigate to another page by clicking or tapping on it. In react-router-</a:t>
            </a:r>
            <a:r>
              <a:rPr lang="en-US" dirty="0" err="1"/>
              <a:t>dom</a:t>
            </a:r>
            <a:r>
              <a:rPr lang="en-US" dirty="0"/>
              <a:t>, a &lt;Link&gt; renders an accessible &lt;a&gt; element with a real </a:t>
            </a:r>
            <a:r>
              <a:rPr lang="en-US" dirty="0" err="1"/>
              <a:t>href</a:t>
            </a:r>
            <a:r>
              <a:rPr lang="en-US" dirty="0"/>
              <a:t> that points to the resource it's linking to. This means that things like right-clicking a &lt;Link&gt; work as you'd expect. You can use &lt;Link </a:t>
            </a:r>
            <a:r>
              <a:rPr lang="en-US" dirty="0" err="1"/>
              <a:t>reloadDocument</a:t>
            </a:r>
            <a:r>
              <a:rPr lang="en-US" dirty="0"/>
              <a:t>&gt; to skip client side routing and let the browser handle the transition normally (as if it were an &lt;a </a:t>
            </a:r>
            <a:r>
              <a:rPr lang="en-US" dirty="0" err="1"/>
              <a:t>href</a:t>
            </a:r>
            <a:r>
              <a:rPr lang="en-US" dirty="0"/>
              <a:t>&gt;).</a:t>
            </a:r>
          </a:p>
        </p:txBody>
      </p:sp>
      <p:sp>
        <p:nvSpPr>
          <p:cNvPr id="4" name="Slide Number Placeholder 3">
            <a:extLst>
              <a:ext uri="{FF2B5EF4-FFF2-40B4-BE49-F238E27FC236}">
                <a16:creationId xmlns:a16="http://schemas.microsoft.com/office/drawing/2014/main" id="{07B0AB6D-9E46-3A75-66D5-FC765C95026B}"/>
              </a:ext>
            </a:extLst>
          </p:cNvPr>
          <p:cNvSpPr>
            <a:spLocks noGrp="1"/>
          </p:cNvSpPr>
          <p:nvPr>
            <p:ph type="sldNum" idx="12"/>
          </p:nvPr>
        </p:nvSpPr>
        <p:spPr/>
        <p:txBody>
          <a:bodyPr/>
          <a:lstStyle/>
          <a:p>
            <a:fld id="{00000000-1234-1234-1234-123412341234}" type="slidenum">
              <a:rPr lang="en-US" smtClean="0"/>
              <a:pPr/>
              <a:t>11</a:t>
            </a:fld>
            <a:endParaRPr lang="en-US" dirty="0"/>
          </a:p>
        </p:txBody>
      </p:sp>
      <p:sp>
        <p:nvSpPr>
          <p:cNvPr id="6" name="TextBox 5">
            <a:extLst>
              <a:ext uri="{FF2B5EF4-FFF2-40B4-BE49-F238E27FC236}">
                <a16:creationId xmlns:a16="http://schemas.microsoft.com/office/drawing/2014/main" id="{32794248-043A-C86D-D081-F166BE448BEB}"/>
              </a:ext>
            </a:extLst>
          </p:cNvPr>
          <p:cNvSpPr txBox="1"/>
          <p:nvPr/>
        </p:nvSpPr>
        <p:spPr>
          <a:xfrm>
            <a:off x="6545564" y="1856133"/>
            <a:ext cx="5445086" cy="3145733"/>
          </a:xfrm>
          <a:prstGeom prst="rect">
            <a:avLst/>
          </a:prstGeom>
          <a:solidFill>
            <a:schemeClr val="tx1"/>
          </a:solid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React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a:t>
            </a:r>
            <a:r>
              <a:rPr lang="en-US" b="0" dirty="0">
                <a:solidFill>
                  <a:srgbClr val="CCCCCC"/>
                </a:solidFill>
                <a:effectLst/>
                <a:latin typeface="Consolas" panose="020B0609020204030204" pitchFamily="49" charset="0"/>
              </a:rPr>
              <a:t>;</a:t>
            </a:r>
          </a:p>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Link</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UsersIndexPage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users</a:t>
            </a:r>
            <a:r>
              <a:rPr lang="en-US" b="0" dirty="0">
                <a:solidFill>
                  <a:srgbClr val="CCCCCC"/>
                </a:solidFill>
                <a:effectLst/>
                <a:latin typeface="Consolas" panose="020B0609020204030204" pitchFamily="49" charset="0"/>
              </a:rPr>
              <a:t> }) {</a:t>
            </a:r>
          </a:p>
          <a:p>
            <a:pPr>
              <a:lnSpc>
                <a:spcPts val="1425"/>
              </a:lnSpc>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h1</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Users</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h1</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err="1">
                <a:solidFill>
                  <a:srgbClr val="569CD6"/>
                </a:solidFill>
                <a:effectLst/>
                <a:latin typeface="Consolas" panose="020B0609020204030204" pitchFamily="49" charset="0"/>
              </a:rPr>
              <a:t>ul</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err="1">
                <a:solidFill>
                  <a:srgbClr val="9CDCFE"/>
                </a:solidFill>
                <a:effectLst/>
                <a:latin typeface="Consolas" panose="020B0609020204030204" pitchFamily="49" charset="0"/>
              </a:rPr>
              <a:t>users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map</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user</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=&gt;</a:t>
            </a:r>
            <a:r>
              <a:rPr lang="en-US" b="0" dirty="0">
                <a:solidFill>
                  <a:srgbClr val="D4D4D4"/>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li</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key</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9CDCFE"/>
                </a:solidFill>
                <a:effectLst/>
                <a:latin typeface="Consolas" panose="020B0609020204030204" pitchFamily="49" charset="0"/>
              </a:rPr>
              <a:t>user</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id</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Link</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9CDCFE"/>
                </a:solidFill>
                <a:effectLst/>
                <a:latin typeface="Consolas" panose="020B0609020204030204" pitchFamily="49" charset="0"/>
              </a:rPr>
              <a:t>user</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id</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r>
              <a:rPr lang="en-US" b="0" dirty="0">
                <a:solidFill>
                  <a:srgbClr val="9CDCFE"/>
                </a:solidFill>
                <a:effectLst/>
                <a:latin typeface="Consolas" panose="020B0609020204030204" pitchFamily="49" charset="0"/>
              </a:rPr>
              <a:t>user</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Link</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li</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err="1">
                <a:solidFill>
                  <a:srgbClr val="569CD6"/>
                </a:solidFill>
                <a:effectLst/>
                <a:latin typeface="Consolas" panose="020B0609020204030204" pitchFamily="49" charset="0"/>
              </a:rPr>
              <a:t>ul</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896300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14A96-DBB5-2266-9372-4F42929D2B35}"/>
              </a:ext>
            </a:extLst>
          </p:cNvPr>
          <p:cNvSpPr>
            <a:spLocks noGrp="1"/>
          </p:cNvSpPr>
          <p:nvPr>
            <p:ph type="title"/>
          </p:nvPr>
        </p:nvSpPr>
        <p:spPr/>
        <p:txBody>
          <a:bodyPr/>
          <a:lstStyle/>
          <a:p>
            <a:r>
              <a:rPr lang="en-US" dirty="0"/>
              <a:t>&lt;</a:t>
            </a:r>
            <a:r>
              <a:rPr lang="en-US" dirty="0" err="1"/>
              <a:t>NavLink</a:t>
            </a:r>
            <a:r>
              <a:rPr lang="en-US" dirty="0"/>
              <a:t>&gt; component</a:t>
            </a:r>
          </a:p>
        </p:txBody>
      </p:sp>
      <p:sp>
        <p:nvSpPr>
          <p:cNvPr id="3" name="Text Placeholder 2">
            <a:extLst>
              <a:ext uri="{FF2B5EF4-FFF2-40B4-BE49-F238E27FC236}">
                <a16:creationId xmlns:a16="http://schemas.microsoft.com/office/drawing/2014/main" id="{DD9AB337-5665-E076-EEA4-6FC3A8AABC39}"/>
              </a:ext>
            </a:extLst>
          </p:cNvPr>
          <p:cNvSpPr>
            <a:spLocks noGrp="1"/>
          </p:cNvSpPr>
          <p:nvPr>
            <p:ph type="body" idx="1"/>
          </p:nvPr>
        </p:nvSpPr>
        <p:spPr>
          <a:xfrm>
            <a:off x="0" y="1627445"/>
            <a:ext cx="11876183" cy="4571452"/>
          </a:xfrm>
        </p:spPr>
        <p:txBody>
          <a:bodyPr>
            <a:normAutofit/>
          </a:bodyPr>
          <a:lstStyle/>
          <a:p>
            <a:r>
              <a:rPr lang="en-US" dirty="0"/>
              <a:t>A &lt;</a:t>
            </a:r>
            <a:r>
              <a:rPr lang="en-US" dirty="0" err="1"/>
              <a:t>NavLink</a:t>
            </a:r>
            <a:r>
              <a:rPr lang="en-US" dirty="0"/>
              <a:t>&gt; is a special kind of &lt;Link&gt; that knows whether or not it is "active", "pending", or "transitioning". This is useful in a few different scenarios:</a:t>
            </a:r>
          </a:p>
          <a:p>
            <a:pPr lvl="1"/>
            <a:r>
              <a:rPr lang="en-US" sz="2400" dirty="0"/>
              <a:t>When building a navigation menu, such as a breadcrumb or a set of tabs where you'd like to show which of them is currently selected</a:t>
            </a:r>
          </a:p>
          <a:p>
            <a:pPr lvl="1"/>
            <a:r>
              <a:rPr lang="en-US" sz="2400" dirty="0"/>
              <a:t>It provides useful context for assistive technology like screen readers</a:t>
            </a:r>
          </a:p>
          <a:p>
            <a:pPr lvl="1"/>
            <a:r>
              <a:rPr lang="en-US" sz="2400" dirty="0"/>
              <a:t>It provides a "transitioning" value to give you finer-grained control over View Transitions</a:t>
            </a:r>
          </a:p>
        </p:txBody>
      </p:sp>
      <p:sp>
        <p:nvSpPr>
          <p:cNvPr id="4" name="Slide Number Placeholder 3">
            <a:extLst>
              <a:ext uri="{FF2B5EF4-FFF2-40B4-BE49-F238E27FC236}">
                <a16:creationId xmlns:a16="http://schemas.microsoft.com/office/drawing/2014/main" id="{75EAB4E4-691C-3C94-26EE-1CCEB7837733}"/>
              </a:ext>
            </a:extLst>
          </p:cNvPr>
          <p:cNvSpPr>
            <a:spLocks noGrp="1"/>
          </p:cNvSpPr>
          <p:nvPr>
            <p:ph type="sldNum" idx="12"/>
          </p:nvPr>
        </p:nvSpPr>
        <p:spPr/>
        <p:txBody>
          <a:bodyPr/>
          <a:lstStyle/>
          <a:p>
            <a:fld id="{00000000-1234-1234-1234-123412341234}" type="slidenum">
              <a:rPr lang="en-US" smtClean="0"/>
              <a:pPr/>
              <a:t>12</a:t>
            </a:fld>
            <a:endParaRPr lang="en-US" dirty="0"/>
          </a:p>
        </p:txBody>
      </p:sp>
      <p:sp>
        <p:nvSpPr>
          <p:cNvPr id="6" name="TextBox 5">
            <a:extLst>
              <a:ext uri="{FF2B5EF4-FFF2-40B4-BE49-F238E27FC236}">
                <a16:creationId xmlns:a16="http://schemas.microsoft.com/office/drawing/2014/main" id="{867AD385-5631-D1C4-427F-8FA4AA233A0D}"/>
              </a:ext>
            </a:extLst>
          </p:cNvPr>
          <p:cNvSpPr txBox="1"/>
          <p:nvPr/>
        </p:nvSpPr>
        <p:spPr>
          <a:xfrm>
            <a:off x="6249611" y="4945055"/>
            <a:ext cx="5358496" cy="1709442"/>
          </a:xfrm>
          <a:prstGeom prst="rect">
            <a:avLst/>
          </a:prstGeom>
          <a:solidFill>
            <a:schemeClr val="tx1"/>
          </a:solid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err="1">
                <a:solidFill>
                  <a:srgbClr val="9CDCFE"/>
                </a:solidFill>
                <a:effectLst/>
                <a:latin typeface="Consolas" panose="020B0609020204030204" pitchFamily="49" charset="0"/>
              </a:rPr>
              <a:t>NavLink</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br>
              <a:rPr lang="en-US" b="0" dirty="0">
                <a:solidFill>
                  <a:srgbClr val="CCCCCC"/>
                </a:solidFill>
                <a:effectLst/>
                <a:latin typeface="Consolas" panose="020B0609020204030204" pitchFamily="49" charset="0"/>
              </a:rPr>
            </a:b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NavLink</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"/messages"</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className</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isActive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isPending</a:t>
            </a:r>
            <a:r>
              <a:rPr lang="en-US" b="0" dirty="0">
                <a:solidFill>
                  <a:srgbClr val="D4D4D4"/>
                </a:solidFill>
                <a:effectLst/>
                <a:latin typeface="Consolas" panose="020B0609020204030204" pitchFamily="49" charset="0"/>
              </a:rPr>
              <a:t> }) </a:t>
            </a:r>
            <a:r>
              <a:rPr lang="en-US" b="0" dirty="0">
                <a:solidFill>
                  <a:srgbClr val="569CD6"/>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isPending</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"pending"</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isActive</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"active"</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Messages</a:t>
            </a:r>
          </a:p>
          <a:p>
            <a:pPr>
              <a:lnSpc>
                <a:spcPts val="1425"/>
              </a:lnSpc>
              <a:buNone/>
            </a:pP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NavLink</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027529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25394-DD28-B3A4-1CE5-6C05CEEE0ABF}"/>
              </a:ext>
            </a:extLst>
          </p:cNvPr>
          <p:cNvSpPr>
            <a:spLocks noGrp="1"/>
          </p:cNvSpPr>
          <p:nvPr>
            <p:ph type="title"/>
          </p:nvPr>
        </p:nvSpPr>
        <p:spPr/>
        <p:txBody>
          <a:bodyPr/>
          <a:lstStyle/>
          <a:p>
            <a:r>
              <a:rPr lang="en-US" dirty="0"/>
              <a:t>&lt;Navigate&gt; component</a:t>
            </a:r>
          </a:p>
        </p:txBody>
      </p:sp>
      <p:sp>
        <p:nvSpPr>
          <p:cNvPr id="3" name="Text Placeholder 2">
            <a:extLst>
              <a:ext uri="{FF2B5EF4-FFF2-40B4-BE49-F238E27FC236}">
                <a16:creationId xmlns:a16="http://schemas.microsoft.com/office/drawing/2014/main" id="{E0C640D7-E062-1A6C-9576-08E08AA6B590}"/>
              </a:ext>
            </a:extLst>
          </p:cNvPr>
          <p:cNvSpPr>
            <a:spLocks noGrp="1"/>
          </p:cNvSpPr>
          <p:nvPr>
            <p:ph type="body" idx="1"/>
          </p:nvPr>
        </p:nvSpPr>
        <p:spPr>
          <a:xfrm>
            <a:off x="-1" y="1627444"/>
            <a:ext cx="5199961" cy="4814445"/>
          </a:xfrm>
        </p:spPr>
        <p:txBody>
          <a:bodyPr/>
          <a:lstStyle/>
          <a:p>
            <a:r>
              <a:rPr lang="en-US" dirty="0"/>
              <a:t>A &lt;Navigate&gt; element changes the current location when it is rendered. It's a component wrapper around </a:t>
            </a:r>
            <a:r>
              <a:rPr lang="en-US" dirty="0" err="1"/>
              <a:t>useNavigate</a:t>
            </a:r>
            <a:r>
              <a:rPr lang="en-US" dirty="0"/>
              <a:t>, and accepts all the same arguments as props.</a:t>
            </a:r>
          </a:p>
        </p:txBody>
      </p:sp>
      <p:sp>
        <p:nvSpPr>
          <p:cNvPr id="4" name="Slide Number Placeholder 3">
            <a:extLst>
              <a:ext uri="{FF2B5EF4-FFF2-40B4-BE49-F238E27FC236}">
                <a16:creationId xmlns:a16="http://schemas.microsoft.com/office/drawing/2014/main" id="{72CC8943-7500-A688-C595-40716F20E583}"/>
              </a:ext>
            </a:extLst>
          </p:cNvPr>
          <p:cNvSpPr>
            <a:spLocks noGrp="1"/>
          </p:cNvSpPr>
          <p:nvPr>
            <p:ph type="sldNum" idx="12"/>
          </p:nvPr>
        </p:nvSpPr>
        <p:spPr/>
        <p:txBody>
          <a:bodyPr/>
          <a:lstStyle/>
          <a:p>
            <a:fld id="{00000000-1234-1234-1234-123412341234}" type="slidenum">
              <a:rPr lang="en-US" smtClean="0"/>
              <a:pPr/>
              <a:t>13</a:t>
            </a:fld>
            <a:endParaRPr lang="en-US" dirty="0"/>
          </a:p>
        </p:txBody>
      </p:sp>
      <p:sp>
        <p:nvSpPr>
          <p:cNvPr id="8" name="TextBox 7">
            <a:extLst>
              <a:ext uri="{FF2B5EF4-FFF2-40B4-BE49-F238E27FC236}">
                <a16:creationId xmlns:a16="http://schemas.microsoft.com/office/drawing/2014/main" id="{35FF236D-5DFF-A170-76B9-B24B9BDF8062}"/>
              </a:ext>
            </a:extLst>
          </p:cNvPr>
          <p:cNvSpPr txBox="1"/>
          <p:nvPr/>
        </p:nvSpPr>
        <p:spPr>
          <a:xfrm>
            <a:off x="5475823" y="1309241"/>
            <a:ext cx="6496280" cy="5120633"/>
          </a:xfrm>
          <a:prstGeom prst="rect">
            <a:avLst/>
          </a:prstGeom>
          <a:solidFill>
            <a:schemeClr val="tx1"/>
          </a:solid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err="1">
                <a:solidFill>
                  <a:srgbClr val="9CDCFE"/>
                </a:solidFill>
                <a:effectLst/>
                <a:latin typeface="Consolas" panose="020B0609020204030204" pitchFamily="49" charset="0"/>
              </a:rPr>
              <a:t>useState</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a:t>
            </a:r>
            <a:r>
              <a:rPr lang="en-US" b="0" dirty="0">
                <a:solidFill>
                  <a:srgbClr val="CCCCCC"/>
                </a:solidFill>
                <a:effectLst/>
                <a:latin typeface="Consolas" panose="020B0609020204030204" pitchFamily="49" charset="0"/>
              </a:rPr>
              <a:t>;</a:t>
            </a:r>
          </a:p>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err="1">
                <a:solidFill>
                  <a:srgbClr val="9CDCFE"/>
                </a:solidFill>
                <a:effectLst/>
                <a:latin typeface="Consolas" panose="020B0609020204030204" pitchFamily="49" charset="0"/>
              </a:rPr>
              <a:t>useNavigate</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LoginForm</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user</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setUser</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useState</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null</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error</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setError</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useState</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null</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navigate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useNavigate</a:t>
            </a:r>
            <a:r>
              <a:rPr lang="en-US" b="0" dirty="0">
                <a:solidFill>
                  <a:srgbClr val="CCCCCC"/>
                </a:solidFill>
                <a:effectLst/>
                <a:latin typeface="Consolas" panose="020B0609020204030204" pitchFamily="49" charset="0"/>
              </a:rPr>
              <a:t>();</a:t>
            </a: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async</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handleSubmit</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event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event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preventDefault</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try</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user</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await</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login</a:t>
            </a:r>
            <a:r>
              <a:rPr lang="en-US" b="0" dirty="0">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event</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target</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setUser</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user</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catch</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error</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setError</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error</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4FC1FF"/>
                </a:solidFill>
                <a:effectLst/>
                <a:latin typeface="Consolas" panose="020B0609020204030204" pitchFamily="49" charset="0"/>
              </a:rPr>
              <a:t>error</a:t>
            </a:r>
            <a:r>
              <a:rPr lang="en-US" b="0" dirty="0">
                <a:solidFill>
                  <a:srgbClr val="D4D4D4"/>
                </a:solidFill>
                <a:effectLst/>
                <a:latin typeface="Consolas" panose="020B0609020204030204" pitchFamily="49" charset="0"/>
              </a:rPr>
              <a:t> &amp;&amp;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p</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r>
              <a:rPr lang="en-US" b="0" dirty="0" err="1">
                <a:solidFill>
                  <a:srgbClr val="4FC1FF"/>
                </a:solidFill>
                <a:effectLst/>
                <a:latin typeface="Consolas" panose="020B0609020204030204" pitchFamily="49" charset="0"/>
              </a:rPr>
              <a:t>error</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message</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p</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4FC1FF"/>
                </a:solidFill>
                <a:effectLst/>
                <a:latin typeface="Consolas" panose="020B0609020204030204" pitchFamily="49" charset="0"/>
              </a:rPr>
              <a:t>user</a:t>
            </a:r>
            <a:r>
              <a:rPr lang="en-US" b="0" dirty="0">
                <a:solidFill>
                  <a:srgbClr val="D4D4D4"/>
                </a:solidFill>
                <a:effectLst/>
                <a:latin typeface="Consolas" panose="020B0609020204030204" pitchFamily="49" charset="0"/>
              </a:rPr>
              <a:t> &amp;&amp;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Navigate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"/dashboard"</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replace</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{true}</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form</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onSubmit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event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=&gt;</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handleSubmit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event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input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"text"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"username"</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input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"password"</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"password"</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form</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a:t>
            </a:r>
          </a:p>
          <a:p>
            <a:pPr>
              <a:lnSpc>
                <a:spcPts val="1425"/>
              </a:lnSpc>
            </a:pPr>
            <a:r>
              <a:rPr lang="en-US" b="0" dirty="0">
                <a:solidFill>
                  <a:srgbClr val="C586C0"/>
                </a:solidFill>
                <a:effectLst/>
                <a:latin typeface="Consolas" panose="020B0609020204030204" pitchFamily="49" charset="0"/>
              </a:rPr>
              <a:t>export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default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LoginForm</a:t>
            </a:r>
            <a:r>
              <a:rPr lang="en-US"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751843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1F3F-7B99-D9D7-A4AB-284132DDB837}"/>
              </a:ext>
            </a:extLst>
          </p:cNvPr>
          <p:cNvSpPr>
            <a:spLocks noGrp="1"/>
          </p:cNvSpPr>
          <p:nvPr>
            <p:ph type="title"/>
          </p:nvPr>
        </p:nvSpPr>
        <p:spPr/>
        <p:txBody>
          <a:bodyPr/>
          <a:lstStyle/>
          <a:p>
            <a:r>
              <a:rPr lang="en-US" dirty="0"/>
              <a:t>Hooks</a:t>
            </a:r>
          </a:p>
        </p:txBody>
      </p:sp>
      <p:sp>
        <p:nvSpPr>
          <p:cNvPr id="3" name="Text Placeholder 2">
            <a:extLst>
              <a:ext uri="{FF2B5EF4-FFF2-40B4-BE49-F238E27FC236}">
                <a16:creationId xmlns:a16="http://schemas.microsoft.com/office/drawing/2014/main" id="{2F40CB64-86AB-7193-0191-5A7FE4D8D161}"/>
              </a:ext>
            </a:extLst>
          </p:cNvPr>
          <p:cNvSpPr>
            <a:spLocks noGrp="1"/>
          </p:cNvSpPr>
          <p:nvPr>
            <p:ph type="body" idx="1"/>
          </p:nvPr>
        </p:nvSpPr>
        <p:spPr/>
        <p:txBody>
          <a:bodyPr>
            <a:normAutofit fontScale="92500"/>
          </a:bodyPr>
          <a:lstStyle/>
          <a:p>
            <a:r>
              <a:rPr lang="en-US" b="0" i="0" dirty="0">
                <a:solidFill>
                  <a:schemeClr val="tx1"/>
                </a:solidFill>
                <a:effectLst/>
                <a:latin typeface="+mj-lt"/>
              </a:rPr>
              <a:t>The </a:t>
            </a:r>
            <a:r>
              <a:rPr lang="en-US" b="0" i="0" dirty="0" err="1">
                <a:solidFill>
                  <a:schemeClr val="tx1"/>
                </a:solidFill>
                <a:effectLst/>
                <a:latin typeface="+mj-lt"/>
              </a:rPr>
              <a:t>useLocation</a:t>
            </a:r>
            <a:r>
              <a:rPr lang="en-US" dirty="0">
                <a:solidFill>
                  <a:schemeClr val="tx1"/>
                </a:solidFill>
                <a:latin typeface="+mj-lt"/>
              </a:rPr>
              <a:t> returns the current location object.</a:t>
            </a:r>
          </a:p>
          <a:p>
            <a:r>
              <a:rPr lang="en-US" dirty="0"/>
              <a:t>The </a:t>
            </a:r>
            <a:r>
              <a:rPr lang="en-US" dirty="0" err="1"/>
              <a:t>useNavigate</a:t>
            </a:r>
            <a:r>
              <a:rPr lang="en-US" dirty="0"/>
              <a:t> returns a function that lets you navigate programmatically.</a:t>
            </a:r>
          </a:p>
          <a:p>
            <a:r>
              <a:rPr lang="en-US" dirty="0"/>
              <a:t>The </a:t>
            </a:r>
            <a:r>
              <a:rPr lang="en-US" dirty="0" err="1"/>
              <a:t>useParams</a:t>
            </a:r>
            <a:r>
              <a:rPr lang="en-US" dirty="0"/>
              <a:t> hook returns an object of key/value pairs of the dynamic params from the current URL that were matched by the &lt;Route path&gt;. Child routes inherit all params from their parent routes.</a:t>
            </a:r>
          </a:p>
          <a:p>
            <a:r>
              <a:rPr lang="en-US" dirty="0"/>
              <a:t>The </a:t>
            </a:r>
            <a:r>
              <a:rPr lang="en-US" dirty="0" err="1"/>
              <a:t>useSearchParams</a:t>
            </a:r>
            <a:r>
              <a:rPr lang="en-US" dirty="0"/>
              <a:t> hook is used to read and modify the query string in the URL for the current location.</a:t>
            </a:r>
          </a:p>
          <a:p>
            <a:r>
              <a:rPr lang="en-US" dirty="0"/>
              <a:t>The </a:t>
            </a:r>
            <a:r>
              <a:rPr lang="en-US" dirty="0" err="1"/>
              <a:t>useRoutes</a:t>
            </a:r>
            <a:r>
              <a:rPr lang="en-US" dirty="0"/>
              <a:t> hook is the functional equivalent of &lt;Routes&gt;, but it uses JavaScript objects instead of &lt;Route&gt; elements to define your routes. These objects have the same properties as normal &lt;Route&gt; elements, but they don't require JSX.</a:t>
            </a:r>
          </a:p>
          <a:p>
            <a:endParaRPr lang="en-US" dirty="0"/>
          </a:p>
          <a:p>
            <a:endParaRPr lang="en-US" dirty="0"/>
          </a:p>
        </p:txBody>
      </p:sp>
      <p:sp>
        <p:nvSpPr>
          <p:cNvPr id="4" name="Slide Number Placeholder 3">
            <a:extLst>
              <a:ext uri="{FF2B5EF4-FFF2-40B4-BE49-F238E27FC236}">
                <a16:creationId xmlns:a16="http://schemas.microsoft.com/office/drawing/2014/main" id="{75B1FDB3-B2A1-1E9C-07CE-4431BEC4E0FA}"/>
              </a:ext>
            </a:extLst>
          </p:cNvPr>
          <p:cNvSpPr>
            <a:spLocks noGrp="1"/>
          </p:cNvSpPr>
          <p:nvPr>
            <p:ph type="sldNum" idx="12"/>
          </p:nvPr>
        </p:nvSpPr>
        <p:spPr/>
        <p:txBody>
          <a:bodyPr/>
          <a:lstStyle/>
          <a:p>
            <a:fld id="{00000000-1234-1234-1234-123412341234}" type="slidenum">
              <a:rPr lang="en-US" smtClean="0"/>
              <a:pPr/>
              <a:t>14</a:t>
            </a:fld>
            <a:endParaRPr lang="en-US" dirty="0"/>
          </a:p>
        </p:txBody>
      </p:sp>
    </p:spTree>
    <p:extLst>
      <p:ext uri="{BB962C8B-B14F-4D97-AF65-F5344CB8AC3E}">
        <p14:creationId xmlns:p14="http://schemas.microsoft.com/office/powerpoint/2010/main" val="2572127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AE773-A2CE-B286-9FD7-FD0C64BF1CC6}"/>
              </a:ext>
            </a:extLst>
          </p:cNvPr>
          <p:cNvSpPr>
            <a:spLocks noGrp="1"/>
          </p:cNvSpPr>
          <p:nvPr>
            <p:ph type="title"/>
          </p:nvPr>
        </p:nvSpPr>
        <p:spPr/>
        <p:txBody>
          <a:bodyPr/>
          <a:lstStyle/>
          <a:p>
            <a:r>
              <a:rPr lang="en-US" dirty="0" err="1"/>
              <a:t>useLocation</a:t>
            </a:r>
            <a:r>
              <a:rPr lang="en-US" dirty="0"/>
              <a:t> - Demo</a:t>
            </a:r>
          </a:p>
        </p:txBody>
      </p:sp>
      <p:sp>
        <p:nvSpPr>
          <p:cNvPr id="4" name="Slide Number Placeholder 3">
            <a:extLst>
              <a:ext uri="{FF2B5EF4-FFF2-40B4-BE49-F238E27FC236}">
                <a16:creationId xmlns:a16="http://schemas.microsoft.com/office/drawing/2014/main" id="{76232DFD-64F0-7F45-39AE-EF544E55B3AD}"/>
              </a:ext>
            </a:extLst>
          </p:cNvPr>
          <p:cNvSpPr>
            <a:spLocks noGrp="1"/>
          </p:cNvSpPr>
          <p:nvPr>
            <p:ph type="sldNum" idx="12"/>
          </p:nvPr>
        </p:nvSpPr>
        <p:spPr/>
        <p:txBody>
          <a:bodyPr/>
          <a:lstStyle/>
          <a:p>
            <a:fld id="{00000000-1234-1234-1234-123412341234}" type="slidenum">
              <a:rPr lang="en-US" smtClean="0"/>
              <a:pPr/>
              <a:t>15</a:t>
            </a:fld>
            <a:endParaRPr lang="en-US" dirty="0"/>
          </a:p>
        </p:txBody>
      </p:sp>
      <p:sp>
        <p:nvSpPr>
          <p:cNvPr id="8" name="TextBox 7">
            <a:extLst>
              <a:ext uri="{FF2B5EF4-FFF2-40B4-BE49-F238E27FC236}">
                <a16:creationId xmlns:a16="http://schemas.microsoft.com/office/drawing/2014/main" id="{0317225E-484D-18CB-014D-46FAC1CE17C2}"/>
              </a:ext>
            </a:extLst>
          </p:cNvPr>
          <p:cNvSpPr txBox="1"/>
          <p:nvPr/>
        </p:nvSpPr>
        <p:spPr>
          <a:xfrm>
            <a:off x="765672" y="1952531"/>
            <a:ext cx="7877060" cy="3145733"/>
          </a:xfrm>
          <a:prstGeom prst="rect">
            <a:avLst/>
          </a:prstGeom>
          <a:solidFill>
            <a:schemeClr val="tx1"/>
          </a:solid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React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a:t>
            </a:r>
            <a:r>
              <a:rPr lang="en-US" b="0" dirty="0">
                <a:solidFill>
                  <a:srgbClr val="CCCCCC"/>
                </a:solidFill>
                <a:effectLst/>
                <a:latin typeface="Consolas" panose="020B0609020204030204" pitchFamily="49" charset="0"/>
              </a:rPr>
              <a:t>;</a:t>
            </a:r>
          </a:p>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err="1">
                <a:solidFill>
                  <a:srgbClr val="9CDCFE"/>
                </a:solidFill>
                <a:effectLst/>
                <a:latin typeface="Consolas" panose="020B0609020204030204" pitchFamily="49" charset="0"/>
              </a:rPr>
              <a:t>useLocation</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App</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location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useLocation</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React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useEffect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Google Analytics</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ga</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'send'</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'pageview'</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location</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a:t>
            </a:r>
          </a:p>
          <a:p>
            <a:pPr>
              <a:lnSpc>
                <a:spcPts val="1425"/>
              </a:lnSpc>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528316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C4244-3CC7-37AA-EBB1-D011A2CDD8CD}"/>
              </a:ext>
            </a:extLst>
          </p:cNvPr>
          <p:cNvSpPr>
            <a:spLocks noGrp="1"/>
          </p:cNvSpPr>
          <p:nvPr>
            <p:ph type="title"/>
          </p:nvPr>
        </p:nvSpPr>
        <p:spPr/>
        <p:txBody>
          <a:bodyPr/>
          <a:lstStyle/>
          <a:p>
            <a:r>
              <a:rPr lang="en-US" dirty="0" err="1"/>
              <a:t>useNavigate</a:t>
            </a:r>
            <a:r>
              <a:rPr lang="en-US" dirty="0"/>
              <a:t> - Demo</a:t>
            </a:r>
          </a:p>
        </p:txBody>
      </p:sp>
      <p:sp>
        <p:nvSpPr>
          <p:cNvPr id="4" name="Slide Number Placeholder 3">
            <a:extLst>
              <a:ext uri="{FF2B5EF4-FFF2-40B4-BE49-F238E27FC236}">
                <a16:creationId xmlns:a16="http://schemas.microsoft.com/office/drawing/2014/main" id="{4C3AC2B9-93F3-AD37-6BE6-E3A9F0E52D91}"/>
              </a:ext>
            </a:extLst>
          </p:cNvPr>
          <p:cNvSpPr>
            <a:spLocks noGrp="1"/>
          </p:cNvSpPr>
          <p:nvPr>
            <p:ph type="sldNum" idx="12"/>
          </p:nvPr>
        </p:nvSpPr>
        <p:spPr/>
        <p:txBody>
          <a:bodyPr/>
          <a:lstStyle/>
          <a:p>
            <a:fld id="{00000000-1234-1234-1234-123412341234}" type="slidenum">
              <a:rPr lang="en-US" smtClean="0"/>
              <a:pPr/>
              <a:t>16</a:t>
            </a:fld>
            <a:endParaRPr lang="en-US" dirty="0"/>
          </a:p>
        </p:txBody>
      </p:sp>
      <p:sp>
        <p:nvSpPr>
          <p:cNvPr id="6" name="TextBox 5">
            <a:extLst>
              <a:ext uri="{FF2B5EF4-FFF2-40B4-BE49-F238E27FC236}">
                <a16:creationId xmlns:a16="http://schemas.microsoft.com/office/drawing/2014/main" id="{B653A1B8-00EF-C15E-D86A-F819A05ADD30}"/>
              </a:ext>
            </a:extLst>
          </p:cNvPr>
          <p:cNvSpPr txBox="1"/>
          <p:nvPr/>
        </p:nvSpPr>
        <p:spPr>
          <a:xfrm>
            <a:off x="424150" y="2035670"/>
            <a:ext cx="7877060" cy="2786660"/>
          </a:xfrm>
          <a:prstGeom prst="rect">
            <a:avLst/>
          </a:prstGeom>
          <a:solidFill>
            <a:schemeClr val="tx1"/>
          </a:solid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err="1">
                <a:solidFill>
                  <a:srgbClr val="9CDCFE"/>
                </a:solidFill>
                <a:effectLst/>
                <a:latin typeface="Consolas" panose="020B0609020204030204" pitchFamily="49" charset="0"/>
              </a:rPr>
              <a:t>useNavigate</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useLogoutTimer</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err="1">
                <a:solidFill>
                  <a:srgbClr val="4FC1FF"/>
                </a:solidFill>
                <a:effectLst/>
                <a:latin typeface="Consolas" panose="020B0609020204030204" pitchFamily="49" charset="0"/>
              </a:rPr>
              <a:t>userIsInactive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useFakeInactiveUser</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navigate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useNavigate</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useEffect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err="1">
                <a:solidFill>
                  <a:srgbClr val="4FC1FF"/>
                </a:solidFill>
                <a:effectLst/>
                <a:latin typeface="Consolas" panose="020B0609020204030204" pitchFamily="49" charset="0"/>
              </a:rPr>
              <a:t>userIsInactive</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fake</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logout</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navigate</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"/session-timed-out"</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a:t>
            </a:r>
            <a:r>
              <a:rPr lang="en-US" b="0" dirty="0" err="1">
                <a:solidFill>
                  <a:srgbClr val="4FC1FF"/>
                </a:solidFill>
                <a:effectLst/>
                <a:latin typeface="Consolas" panose="020B0609020204030204" pitchFamily="49" charset="0"/>
              </a:rPr>
              <a:t>userIsInactive</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a:t>
            </a:r>
          </a:p>
          <a:p>
            <a:pPr>
              <a:lnSpc>
                <a:spcPts val="1425"/>
              </a:lnSpc>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795550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4E314-C4A5-85DE-181D-F7B0B1245304}"/>
              </a:ext>
            </a:extLst>
          </p:cNvPr>
          <p:cNvSpPr>
            <a:spLocks noGrp="1"/>
          </p:cNvSpPr>
          <p:nvPr>
            <p:ph type="title"/>
          </p:nvPr>
        </p:nvSpPr>
        <p:spPr/>
        <p:txBody>
          <a:bodyPr/>
          <a:lstStyle/>
          <a:p>
            <a:r>
              <a:rPr lang="en-US" dirty="0" err="1"/>
              <a:t>useParams</a:t>
            </a:r>
            <a:r>
              <a:rPr lang="en-US" dirty="0"/>
              <a:t> - Demo</a:t>
            </a:r>
          </a:p>
        </p:txBody>
      </p:sp>
      <p:sp>
        <p:nvSpPr>
          <p:cNvPr id="4" name="Slide Number Placeholder 3">
            <a:extLst>
              <a:ext uri="{FF2B5EF4-FFF2-40B4-BE49-F238E27FC236}">
                <a16:creationId xmlns:a16="http://schemas.microsoft.com/office/drawing/2014/main" id="{C4713730-C18D-7DC7-EA44-3D08BC08A11C}"/>
              </a:ext>
            </a:extLst>
          </p:cNvPr>
          <p:cNvSpPr>
            <a:spLocks noGrp="1"/>
          </p:cNvSpPr>
          <p:nvPr>
            <p:ph type="sldNum" idx="12"/>
          </p:nvPr>
        </p:nvSpPr>
        <p:spPr/>
        <p:txBody>
          <a:bodyPr/>
          <a:lstStyle/>
          <a:p>
            <a:fld id="{00000000-1234-1234-1234-123412341234}" type="slidenum">
              <a:rPr lang="en-US" smtClean="0"/>
              <a:pPr/>
              <a:t>17</a:t>
            </a:fld>
            <a:endParaRPr lang="en-US" dirty="0"/>
          </a:p>
        </p:txBody>
      </p:sp>
      <p:sp>
        <p:nvSpPr>
          <p:cNvPr id="6" name="TextBox 5">
            <a:extLst>
              <a:ext uri="{FF2B5EF4-FFF2-40B4-BE49-F238E27FC236}">
                <a16:creationId xmlns:a16="http://schemas.microsoft.com/office/drawing/2014/main" id="{CF040C95-FF0B-78ED-42A7-67D2942EB9D5}"/>
              </a:ext>
            </a:extLst>
          </p:cNvPr>
          <p:cNvSpPr txBox="1"/>
          <p:nvPr/>
        </p:nvSpPr>
        <p:spPr>
          <a:xfrm>
            <a:off x="347032" y="1871635"/>
            <a:ext cx="7877060" cy="3863878"/>
          </a:xfrm>
          <a:prstGeom prst="rect">
            <a:avLst/>
          </a:prstGeom>
          <a:solidFill>
            <a:schemeClr val="tx1"/>
          </a:solid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React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a:t>
            </a:r>
            <a:r>
              <a:rPr lang="en-US" b="0" dirty="0">
                <a:solidFill>
                  <a:srgbClr val="CCCCCC"/>
                </a:solidFill>
                <a:effectLst/>
                <a:latin typeface="Consolas" panose="020B0609020204030204" pitchFamily="49" charset="0"/>
              </a:rPr>
              <a:t>;</a:t>
            </a:r>
          </a:p>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Routes</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Route</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useParams</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ProfilePage</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Get the </a:t>
            </a:r>
            <a:r>
              <a:rPr lang="en-US" b="0" dirty="0" err="1">
                <a:solidFill>
                  <a:srgbClr val="6A9955"/>
                </a:solidFill>
                <a:effectLst/>
                <a:latin typeface="Consolas" panose="020B0609020204030204" pitchFamily="49" charset="0"/>
              </a:rPr>
              <a:t>userId</a:t>
            </a:r>
            <a:r>
              <a:rPr lang="en-US" b="0" dirty="0">
                <a:solidFill>
                  <a:srgbClr val="6A9955"/>
                </a:solidFill>
                <a:effectLst/>
                <a:latin typeface="Consolas" panose="020B0609020204030204" pitchFamily="49" charset="0"/>
              </a:rPr>
              <a:t> param from the URL.</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CCCCCC"/>
                </a:solidFill>
                <a:effectLst/>
                <a:latin typeface="Consolas" panose="020B0609020204030204" pitchFamily="49" charset="0"/>
              </a:rPr>
              <a:t> { </a:t>
            </a:r>
            <a:r>
              <a:rPr lang="en-US" b="0" dirty="0" err="1">
                <a:solidFill>
                  <a:srgbClr val="9CDCFE"/>
                </a:solidFill>
                <a:effectLst/>
                <a:latin typeface="Consolas" panose="020B0609020204030204" pitchFamily="49" charset="0"/>
              </a:rPr>
              <a:t>userId</a:t>
            </a:r>
            <a:r>
              <a:rPr lang="en-US" b="0" dirty="0">
                <a:solidFill>
                  <a:srgbClr val="CCCCCC"/>
                </a:solidFill>
                <a:effectLst/>
                <a:latin typeface="Consolas" panose="020B0609020204030204" pitchFamily="49" charset="0"/>
              </a:rPr>
              <a:t> }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useParams</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App</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Routes</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"users"</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userId</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ProfilePage</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"me"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Routes</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a:t>
            </a:r>
          </a:p>
          <a:p>
            <a:pPr>
              <a:lnSpc>
                <a:spcPts val="1425"/>
              </a:lnSpc>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185459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595D9-150B-8BCF-34CE-6DCA74FD9F96}"/>
              </a:ext>
            </a:extLst>
          </p:cNvPr>
          <p:cNvSpPr>
            <a:spLocks noGrp="1"/>
          </p:cNvSpPr>
          <p:nvPr>
            <p:ph type="title"/>
          </p:nvPr>
        </p:nvSpPr>
        <p:spPr/>
        <p:txBody>
          <a:bodyPr/>
          <a:lstStyle/>
          <a:p>
            <a:r>
              <a:rPr lang="en-US" dirty="0" err="1"/>
              <a:t>useSearchParams</a:t>
            </a:r>
            <a:r>
              <a:rPr lang="en-US" dirty="0"/>
              <a:t> - Demo</a:t>
            </a:r>
          </a:p>
        </p:txBody>
      </p:sp>
      <p:sp>
        <p:nvSpPr>
          <p:cNvPr id="4" name="Slide Number Placeholder 3">
            <a:extLst>
              <a:ext uri="{FF2B5EF4-FFF2-40B4-BE49-F238E27FC236}">
                <a16:creationId xmlns:a16="http://schemas.microsoft.com/office/drawing/2014/main" id="{5E40C8DB-199D-6004-B02B-3D0619007EA0}"/>
              </a:ext>
            </a:extLst>
          </p:cNvPr>
          <p:cNvSpPr>
            <a:spLocks noGrp="1"/>
          </p:cNvSpPr>
          <p:nvPr>
            <p:ph type="sldNum" idx="12"/>
          </p:nvPr>
        </p:nvSpPr>
        <p:spPr/>
        <p:txBody>
          <a:bodyPr/>
          <a:lstStyle/>
          <a:p>
            <a:fld id="{00000000-1234-1234-1234-123412341234}" type="slidenum">
              <a:rPr lang="en-US" smtClean="0"/>
              <a:pPr/>
              <a:t>18</a:t>
            </a:fld>
            <a:endParaRPr lang="en-US" dirty="0"/>
          </a:p>
        </p:txBody>
      </p:sp>
      <p:sp>
        <p:nvSpPr>
          <p:cNvPr id="6" name="TextBox 5">
            <a:extLst>
              <a:ext uri="{FF2B5EF4-FFF2-40B4-BE49-F238E27FC236}">
                <a16:creationId xmlns:a16="http://schemas.microsoft.com/office/drawing/2014/main" id="{C07566F9-78B8-0CE2-37F5-DC4A504EAB42}"/>
              </a:ext>
            </a:extLst>
          </p:cNvPr>
          <p:cNvSpPr txBox="1"/>
          <p:nvPr/>
        </p:nvSpPr>
        <p:spPr>
          <a:xfrm>
            <a:off x="219897" y="1975946"/>
            <a:ext cx="7877060" cy="4222951"/>
          </a:xfrm>
          <a:prstGeom prst="rect">
            <a:avLst/>
          </a:prstGeom>
          <a:solidFill>
            <a:schemeClr val="tx1"/>
          </a:solid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React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a:t>
            </a:r>
            <a:r>
              <a:rPr lang="en-US" b="0" dirty="0">
                <a:solidFill>
                  <a:srgbClr val="CCCCCC"/>
                </a:solidFill>
                <a:effectLst/>
                <a:latin typeface="Consolas" panose="020B0609020204030204" pitchFamily="49" charset="0"/>
              </a:rPr>
              <a:t>;</a:t>
            </a:r>
          </a:p>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err="1">
                <a:solidFill>
                  <a:srgbClr val="9CDCFE"/>
                </a:solidFill>
                <a:effectLst/>
                <a:latin typeface="Consolas" panose="020B0609020204030204" pitchFamily="49" charset="0"/>
              </a:rPr>
              <a:t>useSearchParams</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App</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searchParams</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setSearchParams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useSearchParams</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handleSubmit</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event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event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preventDefault</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The serialize function here would be responsible for</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creating an object of { key: value } pairs from the</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fields in the form that make up the query.</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params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serializeFormQuery</a:t>
            </a:r>
            <a:r>
              <a:rPr lang="en-US" b="0" dirty="0">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event</a:t>
            </a:r>
            <a:r>
              <a:rPr lang="en-US" b="0" dirty="0" err="1">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target</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setSearchParams</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params</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form</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onSubmit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DCDCAA"/>
                </a:solidFill>
                <a:effectLst/>
                <a:latin typeface="Consolas" panose="020B0609020204030204" pitchFamily="49" charset="0"/>
              </a:rPr>
              <a:t>handleSubmit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r>
              <a:rPr lang="en-US" b="0" dirty="0">
                <a:solidFill>
                  <a:srgbClr val="6A9955"/>
                </a:solidFill>
                <a:effectLst/>
                <a:latin typeface="Consolas" panose="020B0609020204030204" pitchFamily="49" charset="0"/>
              </a:rPr>
              <a:t>/* ... */</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form</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a:t>
            </a:r>
          </a:p>
          <a:p>
            <a:pPr>
              <a:lnSpc>
                <a:spcPts val="1425"/>
              </a:lnSpc>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4261078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4148-41BA-D187-0C5B-FA8D317760C3}"/>
              </a:ext>
            </a:extLst>
          </p:cNvPr>
          <p:cNvSpPr>
            <a:spLocks noGrp="1"/>
          </p:cNvSpPr>
          <p:nvPr>
            <p:ph type="title"/>
          </p:nvPr>
        </p:nvSpPr>
        <p:spPr/>
        <p:txBody>
          <a:bodyPr/>
          <a:lstStyle/>
          <a:p>
            <a:r>
              <a:rPr lang="en-US" dirty="0" err="1"/>
              <a:t>useRoutes</a:t>
            </a:r>
            <a:r>
              <a:rPr lang="en-US" dirty="0"/>
              <a:t> - Demo</a:t>
            </a:r>
          </a:p>
        </p:txBody>
      </p:sp>
      <p:sp>
        <p:nvSpPr>
          <p:cNvPr id="4" name="Slide Number Placeholder 3">
            <a:extLst>
              <a:ext uri="{FF2B5EF4-FFF2-40B4-BE49-F238E27FC236}">
                <a16:creationId xmlns:a16="http://schemas.microsoft.com/office/drawing/2014/main" id="{9B69F28B-1996-0196-9EEC-8A06B9C41D87}"/>
              </a:ext>
            </a:extLst>
          </p:cNvPr>
          <p:cNvSpPr>
            <a:spLocks noGrp="1"/>
          </p:cNvSpPr>
          <p:nvPr>
            <p:ph type="sldNum" idx="12"/>
          </p:nvPr>
        </p:nvSpPr>
        <p:spPr/>
        <p:txBody>
          <a:bodyPr/>
          <a:lstStyle/>
          <a:p>
            <a:fld id="{00000000-1234-1234-1234-123412341234}" type="slidenum">
              <a:rPr lang="en-US" smtClean="0"/>
              <a:pPr/>
              <a:t>19</a:t>
            </a:fld>
            <a:endParaRPr lang="en-US" dirty="0"/>
          </a:p>
        </p:txBody>
      </p:sp>
      <p:sp>
        <p:nvSpPr>
          <p:cNvPr id="8" name="TextBox 7">
            <a:extLst>
              <a:ext uri="{FF2B5EF4-FFF2-40B4-BE49-F238E27FC236}">
                <a16:creationId xmlns:a16="http://schemas.microsoft.com/office/drawing/2014/main" id="{0121ECE0-0FD9-9864-0F46-12C12E7773CD}"/>
              </a:ext>
            </a:extLst>
          </p:cNvPr>
          <p:cNvSpPr txBox="1"/>
          <p:nvPr/>
        </p:nvSpPr>
        <p:spPr>
          <a:xfrm>
            <a:off x="765673" y="1843580"/>
            <a:ext cx="7877060" cy="4222951"/>
          </a:xfrm>
          <a:prstGeom prst="rect">
            <a:avLst/>
          </a:prstGeom>
          <a:solidFill>
            <a:schemeClr val="tx1"/>
          </a:solid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React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a:t>
            </a:r>
            <a:r>
              <a:rPr lang="en-US" b="0" dirty="0">
                <a:solidFill>
                  <a:srgbClr val="CCCCCC"/>
                </a:solidFill>
                <a:effectLst/>
                <a:latin typeface="Consolas" panose="020B0609020204030204" pitchFamily="49" charset="0"/>
              </a:rPr>
              <a:t>;</a:t>
            </a:r>
          </a:p>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err="1">
                <a:solidFill>
                  <a:srgbClr val="9CDCFE"/>
                </a:solidFill>
                <a:effectLst/>
                <a:latin typeface="Consolas" panose="020B0609020204030204" pitchFamily="49" charset="0"/>
              </a:rPr>
              <a:t>useRoutes</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App</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useRoutes</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Dashboard</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children:</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path:</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"messages"</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DashboardMessages</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path:</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"tasks"</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DashboardTasks</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path:</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"team"</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AboutPage</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element</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a:t>
            </a:r>
          </a:p>
          <a:p>
            <a:pPr>
              <a:lnSpc>
                <a:spcPts val="1425"/>
              </a:lnSpc>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895256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BAB1-890A-238F-E6A9-E67B95131248}"/>
              </a:ext>
            </a:extLst>
          </p:cNvPr>
          <p:cNvSpPr>
            <a:spLocks noGrp="1"/>
          </p:cNvSpPr>
          <p:nvPr>
            <p:ph type="title"/>
          </p:nvPr>
        </p:nvSpPr>
        <p:spPr/>
        <p:txBody>
          <a:bodyPr/>
          <a:lstStyle/>
          <a:p>
            <a:r>
              <a:rPr lang="en-US" dirty="0"/>
              <a:t>Route Parameters</a:t>
            </a:r>
          </a:p>
        </p:txBody>
      </p:sp>
      <p:sp>
        <p:nvSpPr>
          <p:cNvPr id="3" name="Text Placeholder 2">
            <a:extLst>
              <a:ext uri="{FF2B5EF4-FFF2-40B4-BE49-F238E27FC236}">
                <a16:creationId xmlns:a16="http://schemas.microsoft.com/office/drawing/2014/main" id="{DE0D4A2D-9633-EF35-4BCB-CE0BCE3DC9EA}"/>
              </a:ext>
            </a:extLst>
          </p:cNvPr>
          <p:cNvSpPr>
            <a:spLocks noGrp="1"/>
          </p:cNvSpPr>
          <p:nvPr>
            <p:ph type="body" idx="1"/>
          </p:nvPr>
        </p:nvSpPr>
        <p:spPr>
          <a:xfrm>
            <a:off x="0" y="1627444"/>
            <a:ext cx="12192000" cy="2680151"/>
          </a:xfrm>
        </p:spPr>
        <p:txBody>
          <a:bodyPr/>
          <a:lstStyle/>
          <a:p>
            <a:r>
              <a:rPr lang="en-US" dirty="0"/>
              <a:t>Paths specified as a URL</a:t>
            </a:r>
          </a:p>
          <a:p>
            <a:r>
              <a:rPr lang="en-US" dirty="0"/>
              <a:t>Paths can also carry parameter values: e.g., /orchids/3 where 3 is a route parameter</a:t>
            </a:r>
          </a:p>
          <a:p>
            <a:r>
              <a:rPr lang="en-US" dirty="0"/>
              <a:t>Route parameters specified in the path specification as a token</a:t>
            </a:r>
          </a:p>
          <a:p>
            <a:r>
              <a:rPr lang="en-US" dirty="0"/>
              <a:t>e.g., path: ‘orchid/:id’ where id is the token</a:t>
            </a:r>
          </a:p>
          <a:p>
            <a:endParaRPr lang="en-US" dirty="0"/>
          </a:p>
        </p:txBody>
      </p:sp>
      <p:sp>
        <p:nvSpPr>
          <p:cNvPr id="4" name="Slide Number Placeholder 3">
            <a:extLst>
              <a:ext uri="{FF2B5EF4-FFF2-40B4-BE49-F238E27FC236}">
                <a16:creationId xmlns:a16="http://schemas.microsoft.com/office/drawing/2014/main" id="{82ABC8D8-B689-377C-CCB9-7B4271331B44}"/>
              </a:ext>
            </a:extLst>
          </p:cNvPr>
          <p:cNvSpPr>
            <a:spLocks noGrp="1"/>
          </p:cNvSpPr>
          <p:nvPr>
            <p:ph type="sldNum" idx="12"/>
          </p:nvPr>
        </p:nvSpPr>
        <p:spPr/>
        <p:txBody>
          <a:bodyPr/>
          <a:lstStyle/>
          <a:p>
            <a:fld id="{00000000-1234-1234-1234-123412341234}" type="slidenum">
              <a:rPr lang="en-US" smtClean="0"/>
              <a:pPr/>
              <a:t>20</a:t>
            </a:fld>
            <a:endParaRPr lang="en-US" dirty="0"/>
          </a:p>
        </p:txBody>
      </p:sp>
      <p:sp>
        <p:nvSpPr>
          <p:cNvPr id="6" name="TextBox 5">
            <a:extLst>
              <a:ext uri="{FF2B5EF4-FFF2-40B4-BE49-F238E27FC236}">
                <a16:creationId xmlns:a16="http://schemas.microsoft.com/office/drawing/2014/main" id="{EA17592C-647C-4404-2C03-608CC23C142C}"/>
              </a:ext>
            </a:extLst>
          </p:cNvPr>
          <p:cNvSpPr txBox="1"/>
          <p:nvPr/>
        </p:nvSpPr>
        <p:spPr>
          <a:xfrm>
            <a:off x="360802" y="4392967"/>
            <a:ext cx="7882568" cy="991297"/>
          </a:xfrm>
          <a:prstGeom prst="rect">
            <a:avLst/>
          </a:prstGeom>
          <a:solidFill>
            <a:schemeClr val="tx1"/>
          </a:solid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Link</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Link</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to</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`detail/</a:t>
            </a:r>
            <a:r>
              <a:rPr lang="en-US" b="0" dirty="0">
                <a:solidFill>
                  <a:srgbClr val="569CD6"/>
                </a:solidFill>
                <a:effectLst/>
                <a:latin typeface="Consolas" panose="020B0609020204030204" pitchFamily="49" charset="0"/>
              </a:rPr>
              <a:t>${</a:t>
            </a:r>
            <a:r>
              <a:rPr lang="en-US" b="0" dirty="0">
                <a:solidFill>
                  <a:srgbClr val="9CDCFE"/>
                </a:solidFill>
                <a:effectLst/>
                <a:latin typeface="Consolas" panose="020B0609020204030204" pitchFamily="49" charset="0"/>
              </a:rPr>
              <a:t>orchid</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id</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p</a:t>
            </a:r>
            <a:r>
              <a:rPr lang="en-US" b="0" dirty="0">
                <a:solidFill>
                  <a:srgbClr val="808080"/>
                </a:solidFill>
                <a:effectLst/>
                <a:latin typeface="Consolas" panose="020B0609020204030204" pitchFamily="49" charset="0"/>
              </a:rPr>
              <a:t>&gt;&lt;</a:t>
            </a:r>
            <a:r>
              <a:rPr lang="en-US" b="0" dirty="0">
                <a:solidFill>
                  <a:srgbClr val="569CD6"/>
                </a:solidFill>
                <a:effectLst/>
                <a:latin typeface="Consolas" panose="020B0609020204030204" pitchFamily="49" charset="0"/>
              </a:rPr>
              <a:t>button</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Detail</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button</a:t>
            </a:r>
            <a:r>
              <a:rPr lang="en-US" b="0" dirty="0">
                <a:solidFill>
                  <a:srgbClr val="808080"/>
                </a:solidFill>
                <a:effectLst/>
                <a:latin typeface="Consolas" panose="020B0609020204030204" pitchFamily="49" charset="0"/>
              </a:rPr>
              <a:t>&gt;&lt;/</a:t>
            </a:r>
            <a:r>
              <a:rPr lang="en-US" b="0" dirty="0">
                <a:solidFill>
                  <a:srgbClr val="569CD6"/>
                </a:solidFill>
                <a:effectLst/>
                <a:latin typeface="Consolas" panose="020B0609020204030204" pitchFamily="49" charset="0"/>
              </a:rPr>
              <a:t>p</a:t>
            </a:r>
            <a:r>
              <a:rPr lang="en-US" b="0" dirty="0">
                <a:solidFill>
                  <a:srgbClr val="808080"/>
                </a:solidFill>
                <a:effectLst/>
                <a:latin typeface="Consolas" panose="020B0609020204030204" pitchFamily="49" charset="0"/>
              </a:rPr>
              <a:t>&gt;&lt;/</a:t>
            </a:r>
            <a:r>
              <a:rPr lang="en-US" b="0" dirty="0">
                <a:solidFill>
                  <a:srgbClr val="4EC9B0"/>
                </a:solidFill>
                <a:effectLst/>
                <a:latin typeface="Consolas" panose="020B0609020204030204" pitchFamily="49" charset="0"/>
              </a:rPr>
              <a:t>Link</a:t>
            </a:r>
            <a:r>
              <a:rPr lang="en-US" b="0" dirty="0">
                <a:solidFill>
                  <a:srgbClr val="808080"/>
                </a:solidFill>
                <a:effectLst/>
                <a:latin typeface="Consolas" panose="020B0609020204030204" pitchFamily="49" charset="0"/>
              </a:rPr>
              <a:t>&gt;</a:t>
            </a:r>
            <a:endParaRPr lang="en-US" b="0" dirty="0">
              <a:solidFill>
                <a:srgbClr val="CCCCCC"/>
              </a:solidFill>
              <a:effectLst/>
              <a:latin typeface="Consolas" panose="020B0609020204030204" pitchFamily="49" charset="0"/>
            </a:endParaRPr>
          </a:p>
          <a:p>
            <a:pPr>
              <a:lnSpc>
                <a:spcPts val="1425"/>
              </a:lnSpc>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103191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7B3B-AAAC-D96D-E994-2C61DB0A8E13}"/>
              </a:ext>
            </a:extLst>
          </p:cNvPr>
          <p:cNvSpPr>
            <a:spLocks noGrp="1"/>
          </p:cNvSpPr>
          <p:nvPr>
            <p:ph type="title"/>
          </p:nvPr>
        </p:nvSpPr>
        <p:spPr/>
        <p:txBody>
          <a:bodyPr/>
          <a:lstStyle/>
          <a:p>
            <a:r>
              <a:rPr lang="en-US" dirty="0"/>
              <a:t>Route Parameters</a:t>
            </a:r>
          </a:p>
        </p:txBody>
      </p:sp>
      <p:sp>
        <p:nvSpPr>
          <p:cNvPr id="3" name="Text Placeholder 2">
            <a:extLst>
              <a:ext uri="{FF2B5EF4-FFF2-40B4-BE49-F238E27FC236}">
                <a16:creationId xmlns:a16="http://schemas.microsoft.com/office/drawing/2014/main" id="{9BFA33AB-30CC-65AF-33CB-69B813D61D06}"/>
              </a:ext>
            </a:extLst>
          </p:cNvPr>
          <p:cNvSpPr>
            <a:spLocks noGrp="1"/>
          </p:cNvSpPr>
          <p:nvPr>
            <p:ph type="body" idx="1"/>
          </p:nvPr>
        </p:nvSpPr>
        <p:spPr>
          <a:xfrm>
            <a:off x="0" y="1627444"/>
            <a:ext cx="6411817" cy="4013191"/>
          </a:xfrm>
        </p:spPr>
        <p:txBody>
          <a:bodyPr>
            <a:normAutofit/>
          </a:bodyPr>
          <a:lstStyle/>
          <a:p>
            <a:r>
              <a:rPr lang="en-US" dirty="0"/>
              <a:t>Route parameters can be specified using a link parameter while specifying the link</a:t>
            </a:r>
          </a:p>
          <a:p>
            <a:r>
              <a:rPr lang="en-US" dirty="0"/>
              <a:t>e.g., &lt;Link to={`/orchid/${orchid.id}`} &gt;</a:t>
            </a:r>
          </a:p>
          <a:p>
            <a:r>
              <a:rPr lang="en-US" dirty="0"/>
              <a:t>Using ‘</a:t>
            </a:r>
            <a:r>
              <a:rPr lang="en-US" dirty="0" err="1"/>
              <a:t>useParams</a:t>
            </a:r>
            <a:r>
              <a:rPr lang="en-US" dirty="0"/>
              <a:t>’ Hook to returns an object of key/value pairs of the dynamic params from the current URL that were matched by the &lt;Route path&gt;</a:t>
            </a:r>
          </a:p>
          <a:p>
            <a:pPr marL="339725" lvl="1" indent="0">
              <a:buNone/>
            </a:pPr>
            <a:endParaRPr lang="en-US" b="0" dirty="0">
              <a:solidFill>
                <a:srgbClr val="CCCCCC"/>
              </a:solidFill>
              <a:effectLst/>
              <a:latin typeface="Consolas" panose="020B0609020204030204" pitchFamily="49" charset="0"/>
            </a:endParaRPr>
          </a:p>
          <a:p>
            <a:pPr lvl="1"/>
            <a:endParaRPr lang="en-US" dirty="0"/>
          </a:p>
        </p:txBody>
      </p:sp>
      <p:sp>
        <p:nvSpPr>
          <p:cNvPr id="4" name="Slide Number Placeholder 3">
            <a:extLst>
              <a:ext uri="{FF2B5EF4-FFF2-40B4-BE49-F238E27FC236}">
                <a16:creationId xmlns:a16="http://schemas.microsoft.com/office/drawing/2014/main" id="{7EC715C2-6EED-AF18-B384-F77D752E3C25}"/>
              </a:ext>
            </a:extLst>
          </p:cNvPr>
          <p:cNvSpPr>
            <a:spLocks noGrp="1"/>
          </p:cNvSpPr>
          <p:nvPr>
            <p:ph type="sldNum" idx="12"/>
          </p:nvPr>
        </p:nvSpPr>
        <p:spPr/>
        <p:txBody>
          <a:bodyPr/>
          <a:lstStyle/>
          <a:p>
            <a:fld id="{00000000-1234-1234-1234-123412341234}" type="slidenum">
              <a:rPr lang="en-US" smtClean="0"/>
              <a:pPr/>
              <a:t>21</a:t>
            </a:fld>
            <a:endParaRPr lang="en-US" dirty="0"/>
          </a:p>
        </p:txBody>
      </p:sp>
      <p:sp>
        <p:nvSpPr>
          <p:cNvPr id="6" name="TextBox 5">
            <a:extLst>
              <a:ext uri="{FF2B5EF4-FFF2-40B4-BE49-F238E27FC236}">
                <a16:creationId xmlns:a16="http://schemas.microsoft.com/office/drawing/2014/main" id="{887EAD58-E96D-A165-AAF6-628DD52CD9CB}"/>
              </a:ext>
            </a:extLst>
          </p:cNvPr>
          <p:cNvSpPr txBox="1"/>
          <p:nvPr/>
        </p:nvSpPr>
        <p:spPr>
          <a:xfrm>
            <a:off x="6610120" y="2347420"/>
            <a:ext cx="5174210" cy="1350370"/>
          </a:xfrm>
          <a:prstGeom prst="rect">
            <a:avLst/>
          </a:prstGeom>
          <a:solidFill>
            <a:schemeClr val="tx1"/>
          </a:solid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err="1">
                <a:solidFill>
                  <a:srgbClr val="9CDCFE"/>
                </a:solidFill>
                <a:effectLst/>
                <a:latin typeface="Consolas" panose="020B0609020204030204" pitchFamily="49" charset="0"/>
              </a:rPr>
              <a:t>useParams</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dirty="0">
                <a:solidFill>
                  <a:srgbClr val="CE9178"/>
                </a:solidFill>
                <a:latin typeface="Consolas" panose="020B0609020204030204" pitchFamily="49" charset="0"/>
              </a:rPr>
              <a:t>‘</a:t>
            </a:r>
            <a:r>
              <a:rPr lang="en-US" b="0" dirty="0">
                <a:solidFill>
                  <a:srgbClr val="CE9178"/>
                </a:solidFill>
                <a:effectLst/>
                <a:latin typeface="Consolas" panose="020B0609020204030204" pitchFamily="49" charset="0"/>
              </a:rPr>
              <a:t>react-router-</a:t>
            </a:r>
            <a:r>
              <a:rPr lang="en-US" b="0" dirty="0" err="1">
                <a:solidFill>
                  <a:srgbClr val="CE9178"/>
                </a:solidFill>
                <a:effectLst/>
                <a:latin typeface="Consolas" panose="020B0609020204030204" pitchFamily="49" charset="0"/>
              </a:rPr>
              <a:t>dom</a:t>
            </a:r>
            <a:r>
              <a:rPr lang="en-US" b="0" dirty="0">
                <a:solidFill>
                  <a:srgbClr val="CE9178"/>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err="1">
                <a:solidFill>
                  <a:srgbClr val="4FC1FF"/>
                </a:solidFill>
                <a:effectLst/>
                <a:latin typeface="Consolas" panose="020B0609020204030204" pitchFamily="49" charset="0"/>
              </a:rPr>
              <a:t>orchidId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useParams</a:t>
            </a:r>
            <a:r>
              <a:rPr lang="en-US" b="0" dirty="0">
                <a:solidFill>
                  <a:srgbClr val="CCCCCC"/>
                </a:solidFill>
                <a:effectLst/>
                <a:latin typeface="Consolas" panose="020B0609020204030204" pitchFamily="49" charset="0"/>
              </a:rPr>
              <a:t>();</a:t>
            </a:r>
          </a:p>
          <a:p>
            <a:pPr>
              <a:lnSpc>
                <a:spcPts val="1425"/>
              </a:lnSpc>
              <a:buNone/>
            </a:pP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orchid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data</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find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obj</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obj</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orchidId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a:t>
            </a:r>
          </a:p>
          <a:p>
            <a:pPr>
              <a:lnSpc>
                <a:spcPts val="1425"/>
              </a:lnSpc>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076559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Text Placeholder 2"/>
          <p:cNvSpPr>
            <a:spLocks noGrp="1"/>
          </p:cNvSpPr>
          <p:nvPr>
            <p:ph type="body" idx="1"/>
          </p:nvPr>
        </p:nvSpPr>
        <p:spPr/>
        <p:txBody>
          <a:bodyPr>
            <a:normAutofit/>
          </a:bodyPr>
          <a:lstStyle/>
          <a:p>
            <a:pPr marL="3175" indent="0">
              <a:lnSpc>
                <a:spcPct val="120000"/>
              </a:lnSpc>
              <a:buNone/>
            </a:pPr>
            <a:r>
              <a:rPr lang="en-US" dirty="0"/>
              <a:t>Concepts were introduced:</a:t>
            </a:r>
          </a:p>
          <a:p>
            <a:r>
              <a:rPr lang="en-US" dirty="0"/>
              <a:t> Set up the router module to enable navigation among multiple component views</a:t>
            </a:r>
          </a:p>
          <a:p>
            <a:r>
              <a:rPr lang="en-US" dirty="0"/>
              <a:t>Set up the routes to enable the navigation</a:t>
            </a:r>
          </a:p>
          <a:p>
            <a:r>
              <a:rPr lang="en-US" dirty="0"/>
              <a:t>Client vs. Server Side</a:t>
            </a:r>
          </a:p>
          <a:p>
            <a:endParaRPr lang="en-US" dirty="0"/>
          </a:p>
          <a:p>
            <a:pPr marL="3175" indent="0">
              <a:lnSpc>
                <a:spcPct val="120000"/>
              </a:lnSpc>
              <a:buNone/>
            </a:pPr>
            <a:endParaRPr lang="en-US" dirty="0"/>
          </a:p>
          <a:p>
            <a:pPr>
              <a:lnSpc>
                <a:spcPct val="120000"/>
              </a:lnSpc>
            </a:pPr>
            <a:endParaRPr lang="en-US" dirty="0"/>
          </a:p>
        </p:txBody>
      </p:sp>
      <p:sp>
        <p:nvSpPr>
          <p:cNvPr id="4" name="Slide Number Placeholder 3"/>
          <p:cNvSpPr>
            <a:spLocks noGrp="1"/>
          </p:cNvSpPr>
          <p:nvPr>
            <p:ph type="sldNum" idx="12"/>
          </p:nvPr>
        </p:nvSpPr>
        <p:spPr/>
        <p:txBody>
          <a:bodyPr/>
          <a:lstStyle/>
          <a:p>
            <a:fld id="{00000000-1234-1234-1234-123412341234}" type="slidenum">
              <a:rPr lang="en-US" smtClean="0"/>
              <a:pPr/>
              <a:t>22</a:t>
            </a:fld>
            <a:endParaRPr lang="en-US" dirty="0"/>
          </a:p>
        </p:txBody>
      </p:sp>
    </p:spTree>
    <p:extLst>
      <p:ext uri="{BB962C8B-B14F-4D97-AF65-F5344CB8AC3E}">
        <p14:creationId xmlns:p14="http://schemas.microsoft.com/office/powerpoint/2010/main" val="39631961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8261</TotalTime>
  <Words>3685</Words>
  <Application>Microsoft Office PowerPoint</Application>
  <PresentationFormat>Widescreen</PresentationFormat>
  <Paragraphs>331</Paragraphs>
  <Slides>22</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Consolas</vt:lpstr>
      <vt:lpstr>Noto Sans Symbols</vt:lpstr>
      <vt:lpstr>Wingdings</vt:lpstr>
      <vt:lpstr>Office Theme</vt:lpstr>
      <vt:lpstr>Handling Navigation with Routes</vt:lpstr>
      <vt:lpstr>Objectives</vt:lpstr>
      <vt:lpstr>React router</vt:lpstr>
      <vt:lpstr>Introduction of a Router</vt:lpstr>
      <vt:lpstr>Client vs. Server Side</vt:lpstr>
      <vt:lpstr>Router components</vt:lpstr>
      <vt:lpstr>Web App Routing – using &lt;BrowserRouter&gt;</vt:lpstr>
      <vt:lpstr>Route Matching</vt:lpstr>
      <vt:lpstr>&lt;Routes&gt; component</vt:lpstr>
      <vt:lpstr>&lt;Outlet&gt; component</vt:lpstr>
      <vt:lpstr>&lt;Link&gt; component</vt:lpstr>
      <vt:lpstr>&lt;NavLink&gt; component</vt:lpstr>
      <vt:lpstr>&lt;Navigate&gt; component</vt:lpstr>
      <vt:lpstr>Hooks</vt:lpstr>
      <vt:lpstr>useLocation - Demo</vt:lpstr>
      <vt:lpstr>useNavigate - Demo</vt:lpstr>
      <vt:lpstr>useParams - Demo</vt:lpstr>
      <vt:lpstr>useSearchParams - Demo</vt:lpstr>
      <vt:lpstr>useRoutes - Demo</vt:lpstr>
      <vt:lpstr>Route Parameters</vt:lpstr>
      <vt:lpstr>Route Parameters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Handling Navigation with Routes</dc:title>
  <dc:creator>GoF</dc:creator>
  <cp:lastModifiedBy>Hạnh Ngọc</cp:lastModifiedBy>
  <cp:revision>309</cp:revision>
  <dcterms:created xsi:type="dcterms:W3CDTF">2021-01-25T08:25:31Z</dcterms:created>
  <dcterms:modified xsi:type="dcterms:W3CDTF">2026-09-15T15:23:33Z</dcterms:modified>
</cp:coreProperties>
</file>